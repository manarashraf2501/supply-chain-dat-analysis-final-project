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Maiden Orange" charset="1" panose="02060506000000020004"/>
      <p:regular r:id="rId29"/>
    </p:embeddedFont>
    <p:embeddedFont>
      <p:font typeface="Nourd" charset="1" panose="00000500000000000000"/>
      <p:regular r:id="rId30"/>
    </p:embeddedFont>
    <p:embeddedFont>
      <p:font typeface="Nourd Bold" charset="1" panose="000008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8.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6.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7.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80736" y="2506782"/>
            <a:ext cx="8763264" cy="7042478"/>
          </a:xfrm>
          <a:custGeom>
            <a:avLst/>
            <a:gdLst/>
            <a:ahLst/>
            <a:cxnLst/>
            <a:rect r="r" b="b" t="t" l="l"/>
            <a:pathLst>
              <a:path h="7042478" w="8763264">
                <a:moveTo>
                  <a:pt x="0" y="0"/>
                </a:moveTo>
                <a:lnTo>
                  <a:pt x="8763264" y="0"/>
                </a:lnTo>
                <a:lnTo>
                  <a:pt x="8763264" y="7042478"/>
                </a:lnTo>
                <a:lnTo>
                  <a:pt x="0" y="7042478"/>
                </a:lnTo>
                <a:lnTo>
                  <a:pt x="0" y="0"/>
                </a:lnTo>
                <a:close/>
              </a:path>
            </a:pathLst>
          </a:custGeom>
          <a:blipFill>
            <a:blip r:embed="rId5"/>
            <a:stretch>
              <a:fillRect l="0" t="0" r="0" b="0"/>
            </a:stretch>
          </a:blipFill>
        </p:spPr>
      </p:sp>
      <p:sp>
        <p:nvSpPr>
          <p:cNvPr name="Freeform 5" id="5"/>
          <p:cNvSpPr/>
          <p:nvPr/>
        </p:nvSpPr>
        <p:spPr>
          <a:xfrm flipH="false" flipV="false" rot="0">
            <a:off x="0" y="0"/>
            <a:ext cx="1910428" cy="1910428"/>
          </a:xfrm>
          <a:custGeom>
            <a:avLst/>
            <a:gdLst/>
            <a:ahLst/>
            <a:cxnLst/>
            <a:rect r="r" b="b" t="t" l="l"/>
            <a:pathLst>
              <a:path h="1910428" w="1910428">
                <a:moveTo>
                  <a:pt x="0" y="0"/>
                </a:moveTo>
                <a:lnTo>
                  <a:pt x="1910428" y="0"/>
                </a:lnTo>
                <a:lnTo>
                  <a:pt x="1910428" y="1910428"/>
                </a:lnTo>
                <a:lnTo>
                  <a:pt x="0" y="19104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23325">
            <a:off x="10660972" y="8307562"/>
            <a:ext cx="1933316" cy="526211"/>
          </a:xfrm>
          <a:custGeom>
            <a:avLst/>
            <a:gdLst/>
            <a:ahLst/>
            <a:cxnLst/>
            <a:rect r="r" b="b" t="t" l="l"/>
            <a:pathLst>
              <a:path h="526211" w="1933316">
                <a:moveTo>
                  <a:pt x="0" y="0"/>
                </a:moveTo>
                <a:lnTo>
                  <a:pt x="1933316" y="0"/>
                </a:lnTo>
                <a:lnTo>
                  <a:pt x="1933316" y="526211"/>
                </a:lnTo>
                <a:lnTo>
                  <a:pt x="0" y="526211"/>
                </a:lnTo>
                <a:lnTo>
                  <a:pt x="0" y="0"/>
                </a:lnTo>
                <a:close/>
              </a:path>
            </a:pathLst>
          </a:custGeom>
          <a:blipFill>
            <a:blip r:embed="rId8"/>
            <a:stretch>
              <a:fillRect l="0" t="0" r="0" b="0"/>
            </a:stretch>
          </a:blipFill>
        </p:spPr>
      </p:sp>
      <p:sp>
        <p:nvSpPr>
          <p:cNvPr name="Freeform 7" id="7"/>
          <p:cNvSpPr/>
          <p:nvPr/>
        </p:nvSpPr>
        <p:spPr>
          <a:xfrm flipH="false" flipV="false" rot="0">
            <a:off x="14506183" y="6947254"/>
            <a:ext cx="3781817" cy="3246828"/>
          </a:xfrm>
          <a:custGeom>
            <a:avLst/>
            <a:gdLst/>
            <a:ahLst/>
            <a:cxnLst/>
            <a:rect r="r" b="b" t="t" l="l"/>
            <a:pathLst>
              <a:path h="3246828" w="3781817">
                <a:moveTo>
                  <a:pt x="0" y="0"/>
                </a:moveTo>
                <a:lnTo>
                  <a:pt x="3781817" y="0"/>
                </a:lnTo>
                <a:lnTo>
                  <a:pt x="3781817" y="3246828"/>
                </a:lnTo>
                <a:lnTo>
                  <a:pt x="0" y="3246828"/>
                </a:lnTo>
                <a:lnTo>
                  <a:pt x="0" y="0"/>
                </a:lnTo>
                <a:close/>
              </a:path>
            </a:pathLst>
          </a:custGeom>
          <a:blipFill>
            <a:blip r:embed="rId9"/>
            <a:stretch>
              <a:fillRect l="0" t="0" r="0" b="0"/>
            </a:stretch>
          </a:blipFill>
        </p:spPr>
      </p:sp>
      <p:sp>
        <p:nvSpPr>
          <p:cNvPr name="TextBox 8" id="8"/>
          <p:cNvSpPr txBox="true"/>
          <p:nvPr/>
        </p:nvSpPr>
        <p:spPr>
          <a:xfrm rot="0">
            <a:off x="6922756" y="3022454"/>
            <a:ext cx="11365244" cy="3592131"/>
          </a:xfrm>
          <a:prstGeom prst="rect">
            <a:avLst/>
          </a:prstGeom>
        </p:spPr>
        <p:txBody>
          <a:bodyPr anchor="t" rtlCol="false" tIns="0" lIns="0" bIns="0" rIns="0">
            <a:spAutoFit/>
          </a:bodyPr>
          <a:lstStyle/>
          <a:p>
            <a:pPr algn="l">
              <a:lnSpc>
                <a:spcPts val="13753"/>
              </a:lnSpc>
            </a:pPr>
            <a:r>
              <a:rPr lang="en-US" sz="13753">
                <a:solidFill>
                  <a:srgbClr val="000000"/>
                </a:solidFill>
                <a:latin typeface="Maiden Orange"/>
                <a:ea typeface="Maiden Orange"/>
                <a:cs typeface="Maiden Orange"/>
                <a:sym typeface="Maiden Orange"/>
              </a:rPr>
              <a:t>PROJECT</a:t>
            </a:r>
          </a:p>
          <a:p>
            <a:pPr algn="l">
              <a:lnSpc>
                <a:spcPts val="13753"/>
              </a:lnSpc>
            </a:pPr>
            <a:r>
              <a:rPr lang="en-US" sz="13753">
                <a:solidFill>
                  <a:srgbClr val="000000"/>
                </a:solidFill>
                <a:latin typeface="Maiden Orange"/>
                <a:ea typeface="Maiden Orange"/>
                <a:cs typeface="Maiden Orange"/>
                <a:sym typeface="Maiden Orange"/>
              </a:rPr>
              <a:t>PRESENTATION</a:t>
            </a:r>
          </a:p>
        </p:txBody>
      </p:sp>
      <p:sp>
        <p:nvSpPr>
          <p:cNvPr name="TextBox 9" id="9"/>
          <p:cNvSpPr txBox="true"/>
          <p:nvPr/>
        </p:nvSpPr>
        <p:spPr>
          <a:xfrm rot="0">
            <a:off x="6922756" y="6326930"/>
            <a:ext cx="5697363" cy="620324"/>
          </a:xfrm>
          <a:prstGeom prst="rect">
            <a:avLst/>
          </a:prstGeom>
        </p:spPr>
        <p:txBody>
          <a:bodyPr anchor="t" rtlCol="false" tIns="0" lIns="0" bIns="0" rIns="0">
            <a:spAutoFit/>
          </a:bodyPr>
          <a:lstStyle/>
          <a:p>
            <a:pPr algn="ctr">
              <a:lnSpc>
                <a:spcPts val="5183"/>
              </a:lnSpc>
            </a:pPr>
            <a:r>
              <a:rPr lang="en-US" sz="3702">
                <a:solidFill>
                  <a:srgbClr val="000000"/>
                </a:solidFill>
                <a:latin typeface="Nourd"/>
                <a:ea typeface="Nourd"/>
                <a:cs typeface="Nourd"/>
                <a:sym typeface="Nourd"/>
              </a:rPr>
              <a:t>by Group 4</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TextBox 3" id="3"/>
          <p:cNvSpPr txBox="true"/>
          <p:nvPr/>
        </p:nvSpPr>
        <p:spPr>
          <a:xfrm rot="0">
            <a:off x="2104941" y="2659987"/>
            <a:ext cx="9257424" cy="1799585"/>
          </a:xfrm>
          <a:prstGeom prst="rect">
            <a:avLst/>
          </a:prstGeom>
        </p:spPr>
        <p:txBody>
          <a:bodyPr anchor="t" rtlCol="false" tIns="0" lIns="0" bIns="0" rIns="0">
            <a:spAutoFit/>
          </a:bodyPr>
          <a:lstStyle/>
          <a:p>
            <a:pPr algn="l">
              <a:lnSpc>
                <a:spcPts val="14735"/>
              </a:lnSpc>
            </a:pPr>
            <a:r>
              <a:rPr lang="en-US" sz="10525">
                <a:solidFill>
                  <a:srgbClr val="000000"/>
                </a:solidFill>
                <a:latin typeface="Maiden Orange"/>
                <a:ea typeface="Maiden Orange"/>
                <a:cs typeface="Maiden Orange"/>
                <a:sym typeface="Maiden Orange"/>
              </a:rPr>
              <a:t>Our Team</a:t>
            </a:r>
          </a:p>
        </p:txBody>
      </p:sp>
      <p:sp>
        <p:nvSpPr>
          <p:cNvPr name="TextBox 4" id="4"/>
          <p:cNvSpPr txBox="true"/>
          <p:nvPr/>
        </p:nvSpPr>
        <p:spPr>
          <a:xfrm rot="0">
            <a:off x="2104941" y="4732843"/>
            <a:ext cx="4873060" cy="596989"/>
          </a:xfrm>
          <a:prstGeom prst="rect">
            <a:avLst/>
          </a:prstGeom>
        </p:spPr>
        <p:txBody>
          <a:bodyPr anchor="t" rtlCol="false" tIns="0" lIns="0" bIns="0" rIns="0">
            <a:spAutoFit/>
          </a:bodyPr>
          <a:lstStyle/>
          <a:p>
            <a:pPr algn="l" marL="754894" indent="-377447" lvl="1">
              <a:lnSpc>
                <a:spcPts val="4895"/>
              </a:lnSpc>
              <a:buFont typeface="Arial"/>
              <a:buChar char="•"/>
            </a:pPr>
            <a:r>
              <a:rPr lang="en-US" sz="3496">
                <a:solidFill>
                  <a:srgbClr val="000000"/>
                </a:solidFill>
                <a:latin typeface="Nourd"/>
                <a:ea typeface="Nourd"/>
                <a:cs typeface="Nourd"/>
                <a:sym typeface="Nourd"/>
              </a:rPr>
              <a:t>Manar Ashraf Eissa </a:t>
            </a:r>
          </a:p>
        </p:txBody>
      </p:sp>
      <p:sp>
        <p:nvSpPr>
          <p:cNvPr name="TextBox 5" id="5"/>
          <p:cNvSpPr txBox="true"/>
          <p:nvPr/>
        </p:nvSpPr>
        <p:spPr>
          <a:xfrm rot="0">
            <a:off x="2104941" y="5510613"/>
            <a:ext cx="7039059" cy="596989"/>
          </a:xfrm>
          <a:prstGeom prst="rect">
            <a:avLst/>
          </a:prstGeom>
        </p:spPr>
        <p:txBody>
          <a:bodyPr anchor="t" rtlCol="false" tIns="0" lIns="0" bIns="0" rIns="0">
            <a:spAutoFit/>
          </a:bodyPr>
          <a:lstStyle/>
          <a:p>
            <a:pPr algn="l" marL="754894" indent="-377447" lvl="1">
              <a:lnSpc>
                <a:spcPts val="4895"/>
              </a:lnSpc>
              <a:buFont typeface="Arial"/>
              <a:buChar char="•"/>
            </a:pPr>
            <a:r>
              <a:rPr lang="en-US" sz="3496">
                <a:solidFill>
                  <a:srgbClr val="000000"/>
                </a:solidFill>
                <a:latin typeface="Nourd"/>
                <a:ea typeface="Nourd"/>
                <a:cs typeface="Nourd"/>
                <a:sym typeface="Nourd"/>
              </a:rPr>
              <a:t>Abdelrhm</a:t>
            </a:r>
            <a:r>
              <a:rPr lang="en-US" sz="3496">
                <a:solidFill>
                  <a:srgbClr val="000000"/>
                </a:solidFill>
                <a:latin typeface="Nourd"/>
                <a:ea typeface="Nourd"/>
                <a:cs typeface="Nourd"/>
                <a:sym typeface="Nourd"/>
              </a:rPr>
              <a:t>an mohamed hussien</a:t>
            </a:r>
          </a:p>
        </p:txBody>
      </p:sp>
      <p:sp>
        <p:nvSpPr>
          <p:cNvPr name="TextBox 6" id="6"/>
          <p:cNvSpPr txBox="true"/>
          <p:nvPr/>
        </p:nvSpPr>
        <p:spPr>
          <a:xfrm rot="0">
            <a:off x="2104941" y="6288382"/>
            <a:ext cx="5263223" cy="596989"/>
          </a:xfrm>
          <a:prstGeom prst="rect">
            <a:avLst/>
          </a:prstGeom>
        </p:spPr>
        <p:txBody>
          <a:bodyPr anchor="t" rtlCol="false" tIns="0" lIns="0" bIns="0" rIns="0">
            <a:spAutoFit/>
          </a:bodyPr>
          <a:lstStyle/>
          <a:p>
            <a:pPr algn="l" marL="754894" indent="-377447" lvl="1">
              <a:lnSpc>
                <a:spcPts val="4895"/>
              </a:lnSpc>
              <a:buFont typeface="Arial"/>
              <a:buChar char="•"/>
            </a:pPr>
            <a:r>
              <a:rPr lang="en-US" sz="3496">
                <a:solidFill>
                  <a:srgbClr val="000000"/>
                </a:solidFill>
                <a:latin typeface="Nourd"/>
                <a:ea typeface="Nourd"/>
                <a:cs typeface="Nourd"/>
                <a:sym typeface="Nourd"/>
              </a:rPr>
              <a:t>F</a:t>
            </a:r>
            <a:r>
              <a:rPr lang="en-US" sz="3496">
                <a:solidFill>
                  <a:srgbClr val="000000"/>
                </a:solidFill>
                <a:latin typeface="Nourd"/>
                <a:ea typeface="Nourd"/>
                <a:cs typeface="Nourd"/>
                <a:sym typeface="Nourd"/>
              </a:rPr>
              <a:t>atma Khider Hussein</a:t>
            </a:r>
          </a:p>
        </p:txBody>
      </p:sp>
      <p:sp>
        <p:nvSpPr>
          <p:cNvPr name="TextBox 7" id="7"/>
          <p:cNvSpPr txBox="true"/>
          <p:nvPr/>
        </p:nvSpPr>
        <p:spPr>
          <a:xfrm rot="0">
            <a:off x="2104941" y="7066152"/>
            <a:ext cx="5263223" cy="596989"/>
          </a:xfrm>
          <a:prstGeom prst="rect">
            <a:avLst/>
          </a:prstGeom>
        </p:spPr>
        <p:txBody>
          <a:bodyPr anchor="t" rtlCol="false" tIns="0" lIns="0" bIns="0" rIns="0">
            <a:spAutoFit/>
          </a:bodyPr>
          <a:lstStyle/>
          <a:p>
            <a:pPr algn="l" marL="754894" indent="-377447" lvl="1">
              <a:lnSpc>
                <a:spcPts val="4895"/>
              </a:lnSpc>
              <a:buFont typeface="Arial"/>
              <a:buChar char="•"/>
            </a:pPr>
            <a:r>
              <a:rPr lang="en-US" sz="3496">
                <a:solidFill>
                  <a:srgbClr val="000000"/>
                </a:solidFill>
                <a:latin typeface="Nourd"/>
                <a:ea typeface="Nourd"/>
                <a:cs typeface="Nourd"/>
                <a:sym typeface="Nourd"/>
              </a:rPr>
              <a:t>Eman Salah Hassan</a:t>
            </a:r>
          </a:p>
        </p:txBody>
      </p:sp>
      <p:sp>
        <p:nvSpPr>
          <p:cNvPr name="TextBox 8" id="8"/>
          <p:cNvSpPr txBox="true"/>
          <p:nvPr/>
        </p:nvSpPr>
        <p:spPr>
          <a:xfrm rot="0">
            <a:off x="2104941" y="7844116"/>
            <a:ext cx="6774693" cy="1172944"/>
          </a:xfrm>
          <a:prstGeom prst="rect">
            <a:avLst/>
          </a:prstGeom>
        </p:spPr>
        <p:txBody>
          <a:bodyPr anchor="t" rtlCol="false" tIns="0" lIns="0" bIns="0" rIns="0">
            <a:spAutoFit/>
          </a:bodyPr>
          <a:lstStyle/>
          <a:p>
            <a:pPr algn="l" marL="726543" indent="-363271" lvl="1">
              <a:lnSpc>
                <a:spcPts val="4711"/>
              </a:lnSpc>
              <a:buFont typeface="Arial"/>
              <a:buChar char="•"/>
            </a:pPr>
            <a:r>
              <a:rPr lang="en-US" sz="3365">
                <a:solidFill>
                  <a:srgbClr val="000000"/>
                </a:solidFill>
                <a:latin typeface="Nourd"/>
                <a:ea typeface="Nourd"/>
                <a:cs typeface="Nourd"/>
                <a:sym typeface="Nourd"/>
              </a:rPr>
              <a:t>Abdelrahman Salah Abdelkareem</a:t>
            </a:r>
          </a:p>
        </p:txBody>
      </p:sp>
      <p:sp>
        <p:nvSpPr>
          <p:cNvPr name="TextBox 9" id="9"/>
          <p:cNvSpPr txBox="true"/>
          <p:nvPr/>
        </p:nvSpPr>
        <p:spPr>
          <a:xfrm rot="0">
            <a:off x="2104941" y="9177398"/>
            <a:ext cx="5263223" cy="596989"/>
          </a:xfrm>
          <a:prstGeom prst="rect">
            <a:avLst/>
          </a:prstGeom>
        </p:spPr>
        <p:txBody>
          <a:bodyPr anchor="t" rtlCol="false" tIns="0" lIns="0" bIns="0" rIns="0">
            <a:spAutoFit/>
          </a:bodyPr>
          <a:lstStyle/>
          <a:p>
            <a:pPr algn="l" marL="754894" indent="-377447" lvl="1">
              <a:lnSpc>
                <a:spcPts val="4895"/>
              </a:lnSpc>
              <a:buFont typeface="Arial"/>
              <a:buChar char="•"/>
            </a:pPr>
            <a:r>
              <a:rPr lang="en-US" sz="3496">
                <a:solidFill>
                  <a:srgbClr val="000000"/>
                </a:solidFill>
                <a:latin typeface="Nourd"/>
                <a:ea typeface="Nourd"/>
                <a:cs typeface="Nourd"/>
                <a:sym typeface="Nourd"/>
              </a:rPr>
              <a:t>Yassin ahmed elhabak</a:t>
            </a:r>
          </a:p>
        </p:txBody>
      </p:sp>
      <p:sp>
        <p:nvSpPr>
          <p:cNvPr name="Freeform 10" id="10"/>
          <p:cNvSpPr/>
          <p:nvPr/>
        </p:nvSpPr>
        <p:spPr>
          <a:xfrm flipH="false" flipV="false" rot="0">
            <a:off x="14506183" y="6947254"/>
            <a:ext cx="3781817" cy="3246828"/>
          </a:xfrm>
          <a:custGeom>
            <a:avLst/>
            <a:gdLst/>
            <a:ahLst/>
            <a:cxnLst/>
            <a:rect r="r" b="b" t="t" l="l"/>
            <a:pathLst>
              <a:path h="3246828" w="3781817">
                <a:moveTo>
                  <a:pt x="0" y="0"/>
                </a:moveTo>
                <a:lnTo>
                  <a:pt x="3781817" y="0"/>
                </a:lnTo>
                <a:lnTo>
                  <a:pt x="3781817" y="3246828"/>
                </a:lnTo>
                <a:lnTo>
                  <a:pt x="0" y="3246828"/>
                </a:lnTo>
                <a:lnTo>
                  <a:pt x="0" y="0"/>
                </a:lnTo>
                <a:close/>
              </a:path>
            </a:pathLst>
          </a:custGeom>
          <a:blipFill>
            <a:blip r:embed="rId3"/>
            <a:stretch>
              <a:fillRect l="0" t="0" r="0" b="0"/>
            </a:stretch>
          </a:blipFill>
        </p:spPr>
      </p:sp>
      <p:sp>
        <p:nvSpPr>
          <p:cNvPr name="Freeform 11" id="11"/>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470245" y="30861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7183730" y="2526496"/>
            <a:ext cx="9144000" cy="1809750"/>
          </a:xfrm>
          <a:prstGeom prst="rect">
            <a:avLst/>
          </a:prstGeom>
        </p:spPr>
        <p:txBody>
          <a:bodyPr anchor="t" rtlCol="false" tIns="0" lIns="0" bIns="0" rIns="0">
            <a:spAutoFit/>
          </a:bodyPr>
          <a:lstStyle/>
          <a:p>
            <a:pPr algn="l">
              <a:lnSpc>
                <a:spcPts val="14700"/>
              </a:lnSpc>
            </a:pPr>
            <a:r>
              <a:rPr lang="en-US" sz="10500">
                <a:solidFill>
                  <a:srgbClr val="000000"/>
                </a:solidFill>
                <a:latin typeface="Maiden Orange"/>
                <a:ea typeface="Maiden Orange"/>
                <a:cs typeface="Maiden Orange"/>
                <a:sym typeface="Maiden Orange"/>
              </a:rPr>
              <a:t>Background</a:t>
            </a:r>
          </a:p>
        </p:txBody>
      </p:sp>
      <p:sp>
        <p:nvSpPr>
          <p:cNvPr name="TextBox 7" id="7"/>
          <p:cNvSpPr txBox="true"/>
          <p:nvPr/>
        </p:nvSpPr>
        <p:spPr>
          <a:xfrm rot="0">
            <a:off x="5158540" y="4345771"/>
            <a:ext cx="12706887" cy="3316719"/>
          </a:xfrm>
          <a:prstGeom prst="rect">
            <a:avLst/>
          </a:prstGeom>
        </p:spPr>
        <p:txBody>
          <a:bodyPr anchor="t" rtlCol="false" tIns="0" lIns="0" bIns="0" rIns="0">
            <a:spAutoFit/>
          </a:bodyPr>
          <a:lstStyle/>
          <a:p>
            <a:pPr algn="ctr">
              <a:lnSpc>
                <a:spcPts val="2410"/>
              </a:lnSpc>
            </a:pPr>
          </a:p>
          <a:p>
            <a:pPr algn="ctr">
              <a:lnSpc>
                <a:spcPts val="2410"/>
              </a:lnSpc>
            </a:pPr>
            <a:r>
              <a:rPr lang="en-US" sz="2008">
                <a:solidFill>
                  <a:srgbClr val="000000"/>
                </a:solidFill>
                <a:latin typeface="Nourd"/>
                <a:ea typeface="Nourd"/>
                <a:cs typeface="Nourd"/>
                <a:sym typeface="Nourd"/>
              </a:rPr>
              <a:t>S</a:t>
            </a:r>
            <a:r>
              <a:rPr lang="en-US" sz="2008">
                <a:solidFill>
                  <a:srgbClr val="000000"/>
                </a:solidFill>
                <a:latin typeface="Nourd"/>
                <a:ea typeface="Nourd"/>
                <a:cs typeface="Nourd"/>
                <a:sym typeface="Nourd"/>
              </a:rPr>
              <a:t>upply chain analytics has become a critical area in modern business operations, as organizations increasingly rely on data to improve efficiency and reduce costs. It involves analyzing data generated from various supply chain activities such as procurement, inventory management, transportation, and customer demand.</a:t>
            </a:r>
          </a:p>
          <a:p>
            <a:pPr algn="ctr">
              <a:lnSpc>
                <a:spcPts val="2410"/>
              </a:lnSpc>
            </a:pPr>
            <a:r>
              <a:rPr lang="en-US" sz="2008">
                <a:solidFill>
                  <a:srgbClr val="000000"/>
                </a:solidFill>
                <a:latin typeface="Nourd"/>
                <a:ea typeface="Nourd"/>
                <a:cs typeface="Nourd"/>
                <a:sym typeface="Nourd"/>
              </a:rPr>
              <a:t>Previous studies have shown that effective data analysis can help organizations identify inefficiencies, reduce delivery delays, and optimize inventory levels. By leveraging analytical tools, companies can make informed decisions that enhance overall performance and customer satisfaction.</a:t>
            </a:r>
          </a:p>
          <a:p>
            <a:pPr algn="ctr">
              <a:lnSpc>
                <a:spcPts val="2410"/>
              </a:lnSpc>
            </a:pPr>
            <a:r>
              <a:rPr lang="en-US" sz="2008">
                <a:solidFill>
                  <a:srgbClr val="000000"/>
                </a:solidFill>
                <a:latin typeface="Nourd"/>
                <a:ea typeface="Nourd"/>
                <a:cs typeface="Nourd"/>
                <a:sym typeface="Nourd"/>
              </a:rPr>
              <a:t>Additionally, the use of visualization tools such as dashboards has proven to be highly effective in presenting insights in a clear and actionable way. These tools enable decision-makers to monitor KPIs and respond quickly to changes in supply chain operations.</a:t>
            </a:r>
          </a:p>
          <a:p>
            <a:pPr algn="ctr">
              <a:lnSpc>
                <a:spcPts val="2410"/>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470245" y="30861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7183730" y="2526496"/>
            <a:ext cx="9144000" cy="1809750"/>
          </a:xfrm>
          <a:prstGeom prst="rect">
            <a:avLst/>
          </a:prstGeom>
        </p:spPr>
        <p:txBody>
          <a:bodyPr anchor="t" rtlCol="false" tIns="0" lIns="0" bIns="0" rIns="0">
            <a:spAutoFit/>
          </a:bodyPr>
          <a:lstStyle/>
          <a:p>
            <a:pPr algn="l">
              <a:lnSpc>
                <a:spcPts val="14700"/>
              </a:lnSpc>
            </a:pPr>
            <a:r>
              <a:rPr lang="en-US" sz="10500">
                <a:solidFill>
                  <a:srgbClr val="000000"/>
                </a:solidFill>
                <a:latin typeface="Maiden Orange"/>
                <a:ea typeface="Maiden Orange"/>
                <a:cs typeface="Maiden Orange"/>
                <a:sym typeface="Maiden Orange"/>
              </a:rPr>
              <a:t>Objectives </a:t>
            </a:r>
          </a:p>
        </p:txBody>
      </p:sp>
      <p:sp>
        <p:nvSpPr>
          <p:cNvPr name="TextBox 7" id="7"/>
          <p:cNvSpPr txBox="true"/>
          <p:nvPr/>
        </p:nvSpPr>
        <p:spPr>
          <a:xfrm rot="0">
            <a:off x="7183730" y="4693454"/>
            <a:ext cx="10030874" cy="5486400"/>
          </a:xfrm>
          <a:prstGeom prst="rect">
            <a:avLst/>
          </a:prstGeom>
        </p:spPr>
        <p:txBody>
          <a:bodyPr anchor="t" rtlCol="false" tIns="0" lIns="0" bIns="0" rIns="0">
            <a:spAutoFit/>
          </a:bodyPr>
          <a:lstStyle/>
          <a:p>
            <a:pPr algn="just">
              <a:lnSpc>
                <a:spcPts val="3600"/>
              </a:lnSpc>
            </a:pPr>
            <a:r>
              <a:rPr lang="en-US" sz="3000">
                <a:solidFill>
                  <a:srgbClr val="000000"/>
                </a:solidFill>
                <a:latin typeface="Nourd"/>
                <a:ea typeface="Nourd"/>
                <a:cs typeface="Nourd"/>
                <a:sym typeface="Nourd"/>
              </a:rPr>
              <a:t>A</a:t>
            </a:r>
            <a:r>
              <a:rPr lang="en-US" sz="3000">
                <a:solidFill>
                  <a:srgbClr val="000000"/>
                </a:solidFill>
                <a:latin typeface="Nourd"/>
                <a:ea typeface="Nourd"/>
                <a:cs typeface="Nourd"/>
                <a:sym typeface="Nourd"/>
              </a:rPr>
              <a:t>nalyze supply chain data in order to identify patterns, trends, and key factors affecting sales, inventory, and delivery performance.</a:t>
            </a:r>
          </a:p>
          <a:p>
            <a:pPr algn="just">
              <a:lnSpc>
                <a:spcPts val="3600"/>
              </a:lnSpc>
            </a:pPr>
          </a:p>
          <a:p>
            <a:pPr algn="just">
              <a:lnSpc>
                <a:spcPts val="3600"/>
              </a:lnSpc>
            </a:pPr>
            <a:r>
              <a:rPr lang="en-US" sz="3000">
                <a:solidFill>
                  <a:srgbClr val="000000"/>
                </a:solidFill>
                <a:latin typeface="Nourd"/>
                <a:ea typeface="Nourd"/>
                <a:cs typeface="Nourd"/>
                <a:sym typeface="Nourd"/>
              </a:rPr>
              <a:t>Evaluate operational efficiency by detecting issues such as delays in shipments, stock shortages, and overstock situations.</a:t>
            </a:r>
          </a:p>
          <a:p>
            <a:pPr algn="just">
              <a:lnSpc>
                <a:spcPts val="3600"/>
              </a:lnSpc>
            </a:pPr>
          </a:p>
          <a:p>
            <a:pPr algn="just">
              <a:lnSpc>
                <a:spcPts val="3600"/>
              </a:lnSpc>
            </a:pPr>
            <a:r>
              <a:rPr lang="en-US" sz="3000">
                <a:solidFill>
                  <a:srgbClr val="000000"/>
                </a:solidFill>
                <a:latin typeface="Nourd"/>
                <a:ea typeface="Nourd"/>
                <a:cs typeface="Nourd"/>
                <a:sym typeface="Nourd"/>
              </a:rPr>
              <a:t>Develop interactive dashboards and visualizations using tools like Power BI and Tableau to support data-driven decision-making.</a:t>
            </a:r>
          </a:p>
          <a:p>
            <a:pPr algn="just">
              <a:lnSpc>
                <a:spcPts val="360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TextBox 3" id="3"/>
          <p:cNvSpPr txBox="true"/>
          <p:nvPr/>
        </p:nvSpPr>
        <p:spPr>
          <a:xfrm rot="0">
            <a:off x="2104941" y="2659987"/>
            <a:ext cx="9257424" cy="1799585"/>
          </a:xfrm>
          <a:prstGeom prst="rect">
            <a:avLst/>
          </a:prstGeom>
        </p:spPr>
        <p:txBody>
          <a:bodyPr anchor="t" rtlCol="false" tIns="0" lIns="0" bIns="0" rIns="0">
            <a:spAutoFit/>
          </a:bodyPr>
          <a:lstStyle/>
          <a:p>
            <a:pPr algn="l">
              <a:lnSpc>
                <a:spcPts val="14735"/>
              </a:lnSpc>
            </a:pPr>
            <a:r>
              <a:rPr lang="en-US" sz="10525">
                <a:solidFill>
                  <a:srgbClr val="000000"/>
                </a:solidFill>
                <a:latin typeface="Maiden Orange"/>
                <a:ea typeface="Maiden Orange"/>
                <a:cs typeface="Maiden Orange"/>
                <a:sym typeface="Maiden Orange"/>
              </a:rPr>
              <a:t>Process</a:t>
            </a:r>
          </a:p>
        </p:txBody>
      </p:sp>
      <p:sp>
        <p:nvSpPr>
          <p:cNvPr name="TextBox 4" id="4"/>
          <p:cNvSpPr txBox="true"/>
          <p:nvPr/>
        </p:nvSpPr>
        <p:spPr>
          <a:xfrm rot="0">
            <a:off x="2104941" y="4743845"/>
            <a:ext cx="4873060" cy="596989"/>
          </a:xfrm>
          <a:prstGeom prst="rect">
            <a:avLst/>
          </a:prstGeom>
        </p:spPr>
        <p:txBody>
          <a:bodyPr anchor="t" rtlCol="false" tIns="0" lIns="0" bIns="0" rIns="0">
            <a:spAutoFit/>
          </a:bodyPr>
          <a:lstStyle/>
          <a:p>
            <a:pPr algn="l" marL="754894" indent="-377447" lvl="1">
              <a:lnSpc>
                <a:spcPts val="4895"/>
              </a:lnSpc>
              <a:buFont typeface="Arial"/>
              <a:buChar char="•"/>
            </a:pPr>
            <a:r>
              <a:rPr lang="en-US" sz="3496">
                <a:solidFill>
                  <a:srgbClr val="000000"/>
                </a:solidFill>
                <a:latin typeface="Nourd"/>
                <a:ea typeface="Nourd"/>
                <a:cs typeface="Nourd"/>
                <a:sym typeface="Nourd"/>
              </a:rPr>
              <a:t>Data collection</a:t>
            </a:r>
          </a:p>
        </p:txBody>
      </p:sp>
      <p:sp>
        <p:nvSpPr>
          <p:cNvPr name="TextBox 5" id="5"/>
          <p:cNvSpPr txBox="true"/>
          <p:nvPr/>
        </p:nvSpPr>
        <p:spPr>
          <a:xfrm rot="0">
            <a:off x="2104941" y="5625106"/>
            <a:ext cx="7039059" cy="596989"/>
          </a:xfrm>
          <a:prstGeom prst="rect">
            <a:avLst/>
          </a:prstGeom>
        </p:spPr>
        <p:txBody>
          <a:bodyPr anchor="t" rtlCol="false" tIns="0" lIns="0" bIns="0" rIns="0">
            <a:spAutoFit/>
          </a:bodyPr>
          <a:lstStyle/>
          <a:p>
            <a:pPr algn="l" marL="754894" indent="-377447" lvl="1">
              <a:lnSpc>
                <a:spcPts val="4895"/>
              </a:lnSpc>
              <a:buFont typeface="Arial"/>
              <a:buChar char="•"/>
            </a:pPr>
            <a:r>
              <a:rPr lang="en-US" sz="3496">
                <a:solidFill>
                  <a:srgbClr val="000000"/>
                </a:solidFill>
                <a:latin typeface="Nourd"/>
                <a:ea typeface="Nourd"/>
                <a:cs typeface="Nourd"/>
                <a:sym typeface="Nourd"/>
              </a:rPr>
              <a:t>Data cleaning and transforming</a:t>
            </a:r>
          </a:p>
        </p:txBody>
      </p:sp>
      <p:sp>
        <p:nvSpPr>
          <p:cNvPr name="TextBox 6" id="6"/>
          <p:cNvSpPr txBox="true"/>
          <p:nvPr/>
        </p:nvSpPr>
        <p:spPr>
          <a:xfrm rot="0">
            <a:off x="2104941" y="6645550"/>
            <a:ext cx="8503795" cy="546257"/>
          </a:xfrm>
          <a:prstGeom prst="rect">
            <a:avLst/>
          </a:prstGeom>
        </p:spPr>
        <p:txBody>
          <a:bodyPr anchor="t" rtlCol="false" tIns="0" lIns="0" bIns="0" rIns="0">
            <a:spAutoFit/>
          </a:bodyPr>
          <a:lstStyle/>
          <a:p>
            <a:pPr algn="l" marL="700342" indent="-350171" lvl="1">
              <a:lnSpc>
                <a:spcPts val="4541"/>
              </a:lnSpc>
              <a:buFont typeface="Arial"/>
              <a:buChar char="•"/>
            </a:pPr>
            <a:r>
              <a:rPr lang="en-US" sz="3243">
                <a:solidFill>
                  <a:srgbClr val="000000"/>
                </a:solidFill>
                <a:latin typeface="Nourd"/>
                <a:ea typeface="Nourd"/>
                <a:cs typeface="Nourd"/>
                <a:sym typeface="Nourd"/>
              </a:rPr>
              <a:t>Setting Business questions and analyzing </a:t>
            </a:r>
          </a:p>
        </p:txBody>
      </p:sp>
      <p:sp>
        <p:nvSpPr>
          <p:cNvPr name="TextBox 7" id="7"/>
          <p:cNvSpPr txBox="true"/>
          <p:nvPr/>
        </p:nvSpPr>
        <p:spPr>
          <a:xfrm rot="0">
            <a:off x="2104941" y="7563399"/>
            <a:ext cx="6774693" cy="577072"/>
          </a:xfrm>
          <a:prstGeom prst="rect">
            <a:avLst/>
          </a:prstGeom>
        </p:spPr>
        <p:txBody>
          <a:bodyPr anchor="t" rtlCol="false" tIns="0" lIns="0" bIns="0" rIns="0">
            <a:spAutoFit/>
          </a:bodyPr>
          <a:lstStyle/>
          <a:p>
            <a:pPr algn="l" marL="726543" indent="-363271" lvl="1">
              <a:lnSpc>
                <a:spcPts val="4711"/>
              </a:lnSpc>
              <a:buFont typeface="Arial"/>
              <a:buChar char="•"/>
            </a:pPr>
            <a:r>
              <a:rPr lang="en-US" sz="3365">
                <a:solidFill>
                  <a:srgbClr val="000000"/>
                </a:solidFill>
                <a:latin typeface="Nourd"/>
                <a:ea typeface="Nourd"/>
                <a:cs typeface="Nourd"/>
                <a:sym typeface="Nourd"/>
              </a:rPr>
              <a:t>Visualizing </a:t>
            </a:r>
          </a:p>
        </p:txBody>
      </p:sp>
      <p:sp>
        <p:nvSpPr>
          <p:cNvPr name="TextBox 8" id="8"/>
          <p:cNvSpPr txBox="true"/>
          <p:nvPr/>
        </p:nvSpPr>
        <p:spPr>
          <a:xfrm rot="0">
            <a:off x="2104941" y="8745211"/>
            <a:ext cx="7578979" cy="547459"/>
          </a:xfrm>
          <a:prstGeom prst="rect">
            <a:avLst/>
          </a:prstGeom>
        </p:spPr>
        <p:txBody>
          <a:bodyPr anchor="t" rtlCol="false" tIns="0" lIns="0" bIns="0" rIns="0">
            <a:spAutoFit/>
          </a:bodyPr>
          <a:lstStyle/>
          <a:p>
            <a:pPr algn="l" marL="690126" indent="-345063" lvl="1">
              <a:lnSpc>
                <a:spcPts val="4475"/>
              </a:lnSpc>
              <a:buFont typeface="Arial"/>
              <a:buChar char="•"/>
            </a:pPr>
            <a:r>
              <a:rPr lang="en-US" sz="3196">
                <a:solidFill>
                  <a:srgbClr val="000000"/>
                </a:solidFill>
                <a:latin typeface="Nourd"/>
                <a:ea typeface="Nourd"/>
                <a:cs typeface="Nourd"/>
                <a:sym typeface="Nourd"/>
              </a:rPr>
              <a:t>Recommendations and reporting </a:t>
            </a:r>
          </a:p>
        </p:txBody>
      </p:sp>
      <p:sp>
        <p:nvSpPr>
          <p:cNvPr name="Freeform 9" id="9"/>
          <p:cNvSpPr/>
          <p:nvPr/>
        </p:nvSpPr>
        <p:spPr>
          <a:xfrm flipH="false" flipV="false" rot="0">
            <a:off x="14506183" y="6947254"/>
            <a:ext cx="3781817" cy="3246828"/>
          </a:xfrm>
          <a:custGeom>
            <a:avLst/>
            <a:gdLst/>
            <a:ahLst/>
            <a:cxnLst/>
            <a:rect r="r" b="b" t="t" l="l"/>
            <a:pathLst>
              <a:path h="3246828" w="3781817">
                <a:moveTo>
                  <a:pt x="0" y="0"/>
                </a:moveTo>
                <a:lnTo>
                  <a:pt x="3781817" y="0"/>
                </a:lnTo>
                <a:lnTo>
                  <a:pt x="3781817" y="3246828"/>
                </a:lnTo>
                <a:lnTo>
                  <a:pt x="0" y="3246828"/>
                </a:lnTo>
                <a:lnTo>
                  <a:pt x="0" y="0"/>
                </a:lnTo>
                <a:close/>
              </a:path>
            </a:pathLst>
          </a:custGeom>
          <a:blipFill>
            <a:blip r:embed="rId3"/>
            <a:stretch>
              <a:fillRect l="0" t="0" r="0" b="0"/>
            </a:stretch>
          </a:blipFill>
        </p:spPr>
      </p:sp>
      <p:sp>
        <p:nvSpPr>
          <p:cNvPr name="Freeform 10" id="10"/>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470245" y="308610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7183730" y="2526496"/>
            <a:ext cx="9144000" cy="1809750"/>
          </a:xfrm>
          <a:prstGeom prst="rect">
            <a:avLst/>
          </a:prstGeom>
        </p:spPr>
        <p:txBody>
          <a:bodyPr anchor="t" rtlCol="false" tIns="0" lIns="0" bIns="0" rIns="0">
            <a:spAutoFit/>
          </a:bodyPr>
          <a:lstStyle/>
          <a:p>
            <a:pPr algn="l">
              <a:lnSpc>
                <a:spcPts val="14700"/>
              </a:lnSpc>
            </a:pPr>
            <a:r>
              <a:rPr lang="en-US" sz="10500">
                <a:solidFill>
                  <a:srgbClr val="000000"/>
                </a:solidFill>
                <a:latin typeface="Maiden Orange"/>
                <a:ea typeface="Maiden Orange"/>
                <a:cs typeface="Maiden Orange"/>
                <a:sym typeface="Maiden Orange"/>
              </a:rPr>
              <a:t>1- collecting data</a:t>
            </a:r>
          </a:p>
        </p:txBody>
      </p:sp>
      <p:sp>
        <p:nvSpPr>
          <p:cNvPr name="TextBox 7" id="7"/>
          <p:cNvSpPr txBox="true"/>
          <p:nvPr/>
        </p:nvSpPr>
        <p:spPr>
          <a:xfrm rot="0">
            <a:off x="7183730" y="4693454"/>
            <a:ext cx="10030874" cy="457200"/>
          </a:xfrm>
          <a:prstGeom prst="rect">
            <a:avLst/>
          </a:prstGeom>
        </p:spPr>
        <p:txBody>
          <a:bodyPr anchor="t" rtlCol="false" tIns="0" lIns="0" bIns="0" rIns="0">
            <a:spAutoFit/>
          </a:bodyPr>
          <a:lstStyle/>
          <a:p>
            <a:pPr algn="just">
              <a:lnSpc>
                <a:spcPts val="3600"/>
              </a:lnSpc>
            </a:pPr>
            <a:r>
              <a:rPr lang="en-US" sz="3000">
                <a:solidFill>
                  <a:srgbClr val="000000"/>
                </a:solidFill>
                <a:latin typeface="Nourd"/>
                <a:ea typeface="Nourd"/>
                <a:cs typeface="Nourd"/>
                <a:sym typeface="Nourd"/>
              </a:rPr>
              <a:t>we collected raw supply chain data from ”Oracle”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2602032"/>
            <a:ext cx="8255779" cy="5795313"/>
          </a:xfrm>
          <a:custGeom>
            <a:avLst/>
            <a:gdLst/>
            <a:ahLst/>
            <a:cxnLst/>
            <a:rect r="r" b="b" t="t" l="l"/>
            <a:pathLst>
              <a:path h="5795313" w="8255779">
                <a:moveTo>
                  <a:pt x="0" y="0"/>
                </a:moveTo>
                <a:lnTo>
                  <a:pt x="8255779" y="0"/>
                </a:lnTo>
                <a:lnTo>
                  <a:pt x="8255779" y="5795313"/>
                </a:lnTo>
                <a:lnTo>
                  <a:pt x="0" y="5795313"/>
                </a:lnTo>
                <a:lnTo>
                  <a:pt x="0" y="0"/>
                </a:lnTo>
                <a:close/>
              </a:path>
            </a:pathLst>
          </a:custGeom>
          <a:blipFill>
            <a:blip r:embed="rId5"/>
            <a:stretch>
              <a:fillRect l="0" t="0" r="0" b="0"/>
            </a:stretch>
          </a:blipFill>
        </p:spPr>
      </p:sp>
      <p:sp>
        <p:nvSpPr>
          <p:cNvPr name="TextBox 6" id="6"/>
          <p:cNvSpPr txBox="true"/>
          <p:nvPr/>
        </p:nvSpPr>
        <p:spPr>
          <a:xfrm rot="0">
            <a:off x="8664585" y="3585163"/>
            <a:ext cx="9144000" cy="1809750"/>
          </a:xfrm>
          <a:prstGeom prst="rect">
            <a:avLst/>
          </a:prstGeom>
        </p:spPr>
        <p:txBody>
          <a:bodyPr anchor="t" rtlCol="false" tIns="0" lIns="0" bIns="0" rIns="0">
            <a:spAutoFit/>
          </a:bodyPr>
          <a:lstStyle/>
          <a:p>
            <a:pPr algn="l">
              <a:lnSpc>
                <a:spcPts val="14700"/>
              </a:lnSpc>
            </a:pPr>
            <a:r>
              <a:rPr lang="en-US" sz="10500">
                <a:solidFill>
                  <a:srgbClr val="000000"/>
                </a:solidFill>
                <a:latin typeface="Maiden Orange"/>
                <a:ea typeface="Maiden Orange"/>
                <a:cs typeface="Maiden Orange"/>
                <a:sym typeface="Maiden Orange"/>
              </a:rPr>
              <a:t>2- data cleaning </a:t>
            </a:r>
          </a:p>
        </p:txBody>
      </p:sp>
      <p:sp>
        <p:nvSpPr>
          <p:cNvPr name="TextBox 7" id="7"/>
          <p:cNvSpPr txBox="true"/>
          <p:nvPr/>
        </p:nvSpPr>
        <p:spPr>
          <a:xfrm rot="0">
            <a:off x="8664585" y="5824289"/>
            <a:ext cx="10030874" cy="2286000"/>
          </a:xfrm>
          <a:prstGeom prst="rect">
            <a:avLst/>
          </a:prstGeom>
        </p:spPr>
        <p:txBody>
          <a:bodyPr anchor="t" rtlCol="false" tIns="0" lIns="0" bIns="0" rIns="0">
            <a:spAutoFit/>
          </a:bodyPr>
          <a:lstStyle/>
          <a:p>
            <a:pPr algn="l" marL="647705" indent="-323852" lvl="1">
              <a:lnSpc>
                <a:spcPts val="3600"/>
              </a:lnSpc>
              <a:buFont typeface="Arial"/>
              <a:buChar char="•"/>
            </a:pPr>
            <a:r>
              <a:rPr lang="en-US" sz="3000">
                <a:solidFill>
                  <a:srgbClr val="000000"/>
                </a:solidFill>
                <a:latin typeface="Nourd"/>
                <a:ea typeface="Nourd"/>
                <a:cs typeface="Nourd"/>
                <a:sym typeface="Nourd"/>
              </a:rPr>
              <a:t>read and cleaned data using python </a:t>
            </a:r>
          </a:p>
          <a:p>
            <a:pPr algn="l" marL="647705" indent="-323852" lvl="1">
              <a:lnSpc>
                <a:spcPts val="3600"/>
              </a:lnSpc>
              <a:buFont typeface="Arial"/>
              <a:buChar char="•"/>
            </a:pPr>
            <a:r>
              <a:rPr lang="en-US" sz="3000">
                <a:solidFill>
                  <a:srgbClr val="000000"/>
                </a:solidFill>
                <a:latin typeface="Nourd"/>
                <a:ea typeface="Nourd"/>
                <a:cs typeface="Nourd"/>
                <a:sym typeface="Nourd"/>
              </a:rPr>
              <a:t>fixed and changed inappropriate data types </a:t>
            </a:r>
          </a:p>
          <a:p>
            <a:pPr algn="l" marL="647705" indent="-323852" lvl="1">
              <a:lnSpc>
                <a:spcPts val="3600"/>
              </a:lnSpc>
              <a:buFont typeface="Arial"/>
              <a:buChar char="•"/>
            </a:pPr>
            <a:r>
              <a:rPr lang="en-US" sz="3000">
                <a:solidFill>
                  <a:srgbClr val="000000"/>
                </a:solidFill>
                <a:latin typeface="Nourd"/>
                <a:ea typeface="Nourd"/>
                <a:cs typeface="Nourd"/>
                <a:sym typeface="Nourd"/>
              </a:rPr>
              <a:t>rounded values </a:t>
            </a:r>
          </a:p>
          <a:p>
            <a:pPr algn="l">
              <a:lnSpc>
                <a:spcPts val="3600"/>
              </a:lnSpc>
            </a:pPr>
          </a:p>
          <a:p>
            <a:pPr algn="just">
              <a:lnSpc>
                <a:spcPts val="360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4316721"/>
            <a:ext cx="8421912" cy="4941579"/>
          </a:xfrm>
          <a:custGeom>
            <a:avLst/>
            <a:gdLst/>
            <a:ahLst/>
            <a:cxnLst/>
            <a:rect r="r" b="b" t="t" l="l"/>
            <a:pathLst>
              <a:path h="4941579" w="8421912">
                <a:moveTo>
                  <a:pt x="0" y="0"/>
                </a:moveTo>
                <a:lnTo>
                  <a:pt x="8421912" y="0"/>
                </a:lnTo>
                <a:lnTo>
                  <a:pt x="8421912" y="4941579"/>
                </a:lnTo>
                <a:lnTo>
                  <a:pt x="0" y="4941579"/>
                </a:lnTo>
                <a:lnTo>
                  <a:pt x="0" y="0"/>
                </a:lnTo>
                <a:close/>
              </a:path>
            </a:pathLst>
          </a:custGeom>
          <a:blipFill>
            <a:blip r:embed="rId5"/>
            <a:stretch>
              <a:fillRect l="-17106" t="0" r="0" b="0"/>
            </a:stretch>
          </a:blipFill>
        </p:spPr>
      </p:sp>
      <p:sp>
        <p:nvSpPr>
          <p:cNvPr name="TextBox 6" id="6"/>
          <p:cNvSpPr txBox="true"/>
          <p:nvPr/>
        </p:nvSpPr>
        <p:spPr>
          <a:xfrm rot="0">
            <a:off x="8664585" y="3585163"/>
            <a:ext cx="9144000" cy="1809750"/>
          </a:xfrm>
          <a:prstGeom prst="rect">
            <a:avLst/>
          </a:prstGeom>
        </p:spPr>
        <p:txBody>
          <a:bodyPr anchor="t" rtlCol="false" tIns="0" lIns="0" bIns="0" rIns="0">
            <a:spAutoFit/>
          </a:bodyPr>
          <a:lstStyle/>
          <a:p>
            <a:pPr algn="l">
              <a:lnSpc>
                <a:spcPts val="14700"/>
              </a:lnSpc>
            </a:pPr>
            <a:r>
              <a:rPr lang="en-US" sz="10500">
                <a:solidFill>
                  <a:srgbClr val="000000"/>
                </a:solidFill>
                <a:latin typeface="Maiden Orange"/>
                <a:ea typeface="Maiden Orange"/>
                <a:cs typeface="Maiden Orange"/>
                <a:sym typeface="Maiden Orange"/>
              </a:rPr>
              <a:t>2- data cleaning </a:t>
            </a:r>
          </a:p>
        </p:txBody>
      </p:sp>
      <p:sp>
        <p:nvSpPr>
          <p:cNvPr name="TextBox 7" id="7"/>
          <p:cNvSpPr txBox="true"/>
          <p:nvPr/>
        </p:nvSpPr>
        <p:spPr>
          <a:xfrm rot="0">
            <a:off x="8664585" y="5824289"/>
            <a:ext cx="10030874" cy="3657600"/>
          </a:xfrm>
          <a:prstGeom prst="rect">
            <a:avLst/>
          </a:prstGeom>
        </p:spPr>
        <p:txBody>
          <a:bodyPr anchor="t" rtlCol="false" tIns="0" lIns="0" bIns="0" rIns="0">
            <a:spAutoFit/>
          </a:bodyPr>
          <a:lstStyle/>
          <a:p>
            <a:pPr algn="l" marL="647705" indent="-323852" lvl="1">
              <a:lnSpc>
                <a:spcPts val="3600"/>
              </a:lnSpc>
              <a:buFont typeface="Arial"/>
              <a:buChar char="•"/>
            </a:pPr>
            <a:r>
              <a:rPr lang="en-US" sz="3000">
                <a:solidFill>
                  <a:srgbClr val="000000"/>
                </a:solidFill>
                <a:latin typeface="Nourd"/>
                <a:ea typeface="Nourd"/>
                <a:cs typeface="Nourd"/>
                <a:sym typeface="Nourd"/>
              </a:rPr>
              <a:t>loaded data to excel power query</a:t>
            </a:r>
          </a:p>
          <a:p>
            <a:pPr algn="l" marL="647705" indent="-323852" lvl="1">
              <a:lnSpc>
                <a:spcPts val="3600"/>
              </a:lnSpc>
              <a:buFont typeface="Arial"/>
              <a:buChar char="•"/>
            </a:pPr>
            <a:r>
              <a:rPr lang="en-US" sz="3000">
                <a:solidFill>
                  <a:srgbClr val="000000"/>
                </a:solidFill>
                <a:latin typeface="Nourd"/>
                <a:ea typeface="Nourd"/>
                <a:cs typeface="Nourd"/>
                <a:sym typeface="Nourd"/>
              </a:rPr>
              <a:t>removed unwanted columns</a:t>
            </a:r>
          </a:p>
          <a:p>
            <a:pPr algn="l" marL="647705" indent="-323852" lvl="1">
              <a:lnSpc>
                <a:spcPts val="3600"/>
              </a:lnSpc>
              <a:buFont typeface="Arial"/>
              <a:buChar char="•"/>
            </a:pPr>
            <a:r>
              <a:rPr lang="en-US" sz="3000">
                <a:solidFill>
                  <a:srgbClr val="000000"/>
                </a:solidFill>
                <a:latin typeface="Nourd"/>
                <a:ea typeface="Nourd"/>
                <a:cs typeface="Nourd"/>
                <a:sym typeface="Nourd"/>
              </a:rPr>
              <a:t>created conditional columns to count delivery performance</a:t>
            </a:r>
          </a:p>
          <a:p>
            <a:pPr algn="l" marL="647705" indent="-323852" lvl="1">
              <a:lnSpc>
                <a:spcPts val="3600"/>
              </a:lnSpc>
              <a:buFont typeface="Arial"/>
              <a:buChar char="•"/>
            </a:pPr>
            <a:r>
              <a:rPr lang="en-US" sz="3000">
                <a:solidFill>
                  <a:srgbClr val="000000"/>
                </a:solidFill>
                <a:latin typeface="Nourd"/>
                <a:ea typeface="Nourd"/>
                <a:cs typeface="Nourd"/>
                <a:sym typeface="Nourd"/>
              </a:rPr>
              <a:t>created custom column to indicate order status in numbers</a:t>
            </a:r>
          </a:p>
          <a:p>
            <a:pPr algn="l">
              <a:lnSpc>
                <a:spcPts val="3600"/>
              </a:lnSpc>
            </a:pPr>
          </a:p>
          <a:p>
            <a:pPr algn="just">
              <a:lnSpc>
                <a:spcPts val="3600"/>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0" y="3612136"/>
            <a:ext cx="7278241" cy="5646164"/>
          </a:xfrm>
          <a:custGeom>
            <a:avLst/>
            <a:gdLst/>
            <a:ahLst/>
            <a:cxnLst/>
            <a:rect r="r" b="b" t="t" l="l"/>
            <a:pathLst>
              <a:path h="5646164" w="7278241">
                <a:moveTo>
                  <a:pt x="0" y="0"/>
                </a:moveTo>
                <a:lnTo>
                  <a:pt x="7278241" y="0"/>
                </a:lnTo>
                <a:lnTo>
                  <a:pt x="7278241" y="5646164"/>
                </a:lnTo>
                <a:lnTo>
                  <a:pt x="0" y="5646164"/>
                </a:lnTo>
                <a:lnTo>
                  <a:pt x="0" y="0"/>
                </a:lnTo>
                <a:close/>
              </a:path>
            </a:pathLst>
          </a:custGeom>
          <a:blipFill>
            <a:blip r:embed="rId5"/>
            <a:stretch>
              <a:fillRect l="0" t="0" r="-75573" b="0"/>
            </a:stretch>
          </a:blipFill>
        </p:spPr>
      </p:sp>
      <p:sp>
        <p:nvSpPr>
          <p:cNvPr name="TextBox 6" id="6"/>
          <p:cNvSpPr txBox="true"/>
          <p:nvPr/>
        </p:nvSpPr>
        <p:spPr>
          <a:xfrm rot="0">
            <a:off x="8664585" y="3585163"/>
            <a:ext cx="9144000" cy="1809750"/>
          </a:xfrm>
          <a:prstGeom prst="rect">
            <a:avLst/>
          </a:prstGeom>
        </p:spPr>
        <p:txBody>
          <a:bodyPr anchor="t" rtlCol="false" tIns="0" lIns="0" bIns="0" rIns="0">
            <a:spAutoFit/>
          </a:bodyPr>
          <a:lstStyle/>
          <a:p>
            <a:pPr algn="l">
              <a:lnSpc>
                <a:spcPts val="14700"/>
              </a:lnSpc>
            </a:pPr>
            <a:r>
              <a:rPr lang="en-US" sz="10500">
                <a:solidFill>
                  <a:srgbClr val="000000"/>
                </a:solidFill>
                <a:latin typeface="Maiden Orange"/>
                <a:ea typeface="Maiden Orange"/>
                <a:cs typeface="Maiden Orange"/>
                <a:sym typeface="Maiden Orange"/>
              </a:rPr>
              <a:t>2- data cleaning </a:t>
            </a:r>
          </a:p>
        </p:txBody>
      </p:sp>
      <p:sp>
        <p:nvSpPr>
          <p:cNvPr name="TextBox 7" id="7"/>
          <p:cNvSpPr txBox="true"/>
          <p:nvPr/>
        </p:nvSpPr>
        <p:spPr>
          <a:xfrm rot="0">
            <a:off x="8664585" y="5824289"/>
            <a:ext cx="10030874" cy="2286000"/>
          </a:xfrm>
          <a:prstGeom prst="rect">
            <a:avLst/>
          </a:prstGeom>
        </p:spPr>
        <p:txBody>
          <a:bodyPr anchor="t" rtlCol="false" tIns="0" lIns="0" bIns="0" rIns="0">
            <a:spAutoFit/>
          </a:bodyPr>
          <a:lstStyle/>
          <a:p>
            <a:pPr algn="l" marL="647705" indent="-323852" lvl="1">
              <a:lnSpc>
                <a:spcPts val="3600"/>
              </a:lnSpc>
              <a:buFont typeface="Arial"/>
              <a:buChar char="•"/>
            </a:pPr>
            <a:r>
              <a:rPr lang="en-US" sz="3000">
                <a:solidFill>
                  <a:srgbClr val="000000"/>
                </a:solidFill>
                <a:latin typeface="Nourd"/>
                <a:ea typeface="Nourd"/>
                <a:cs typeface="Nourd"/>
                <a:sym typeface="Nourd"/>
              </a:rPr>
              <a:t>retrieved data using SQL </a:t>
            </a:r>
          </a:p>
          <a:p>
            <a:pPr algn="l" marL="647705" indent="-323852" lvl="1">
              <a:lnSpc>
                <a:spcPts val="3600"/>
              </a:lnSpc>
              <a:buFont typeface="Arial"/>
              <a:buChar char="•"/>
            </a:pPr>
            <a:r>
              <a:rPr lang="en-US" sz="3000">
                <a:solidFill>
                  <a:srgbClr val="000000"/>
                </a:solidFill>
                <a:latin typeface="Nourd"/>
                <a:ea typeface="Nourd"/>
                <a:cs typeface="Nourd"/>
                <a:sym typeface="Nourd"/>
              </a:rPr>
              <a:t>modeled data and added constraints </a:t>
            </a:r>
          </a:p>
          <a:p>
            <a:pPr algn="l" marL="647705" indent="-323852" lvl="1">
              <a:lnSpc>
                <a:spcPts val="3600"/>
              </a:lnSpc>
              <a:buFont typeface="Arial"/>
              <a:buChar char="•"/>
            </a:pPr>
            <a:r>
              <a:rPr lang="en-US" sz="3000">
                <a:solidFill>
                  <a:srgbClr val="000000"/>
                </a:solidFill>
                <a:latin typeface="Nourd"/>
                <a:ea typeface="Nourd"/>
                <a:cs typeface="Nourd"/>
                <a:sym typeface="Nourd"/>
              </a:rPr>
              <a:t>answered basic questions </a:t>
            </a:r>
          </a:p>
          <a:p>
            <a:pPr algn="l">
              <a:lnSpc>
                <a:spcPts val="3600"/>
              </a:lnSpc>
            </a:pPr>
          </a:p>
          <a:p>
            <a:pPr algn="just">
              <a:lnSpc>
                <a:spcPts val="3600"/>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382134" y="1494595"/>
            <a:ext cx="10321370" cy="1795774"/>
          </a:xfrm>
          <a:prstGeom prst="rect">
            <a:avLst/>
          </a:prstGeom>
        </p:spPr>
        <p:txBody>
          <a:bodyPr anchor="t" rtlCol="false" tIns="0" lIns="0" bIns="0" rIns="0">
            <a:spAutoFit/>
          </a:bodyPr>
          <a:lstStyle/>
          <a:p>
            <a:pPr algn="l">
              <a:lnSpc>
                <a:spcPts val="14571"/>
              </a:lnSpc>
            </a:pPr>
            <a:r>
              <a:rPr lang="en-US" sz="10408">
                <a:solidFill>
                  <a:srgbClr val="000000"/>
                </a:solidFill>
                <a:latin typeface="Maiden Orange"/>
                <a:ea typeface="Maiden Orange"/>
                <a:cs typeface="Maiden Orange"/>
                <a:sym typeface="Maiden Orange"/>
              </a:rPr>
              <a:t>3- defining questions </a:t>
            </a:r>
          </a:p>
        </p:txBody>
      </p:sp>
      <p:sp>
        <p:nvSpPr>
          <p:cNvPr name="TextBox 6" id="6"/>
          <p:cNvSpPr txBox="true"/>
          <p:nvPr/>
        </p:nvSpPr>
        <p:spPr>
          <a:xfrm rot="0">
            <a:off x="4128563" y="3290368"/>
            <a:ext cx="10030874" cy="7772400"/>
          </a:xfrm>
          <a:prstGeom prst="rect">
            <a:avLst/>
          </a:prstGeom>
        </p:spPr>
        <p:txBody>
          <a:bodyPr anchor="t" rtlCol="false" tIns="0" lIns="0" bIns="0" rIns="0">
            <a:spAutoFit/>
          </a:bodyPr>
          <a:lstStyle/>
          <a:p>
            <a:pPr algn="l" marL="647705" indent="-323852" lvl="1">
              <a:lnSpc>
                <a:spcPts val="3600"/>
              </a:lnSpc>
              <a:buFont typeface="Arial"/>
              <a:buChar char="•"/>
            </a:pPr>
            <a:r>
              <a:rPr lang="en-US" sz="3000">
                <a:solidFill>
                  <a:srgbClr val="000000"/>
                </a:solidFill>
                <a:latin typeface="Nourd"/>
                <a:ea typeface="Nourd"/>
                <a:cs typeface="Nourd"/>
                <a:sym typeface="Nourd"/>
              </a:rPr>
              <a:t>how sales was affected monthly?</a:t>
            </a:r>
          </a:p>
          <a:p>
            <a:pPr algn="l" marL="647705" indent="-323852" lvl="1">
              <a:lnSpc>
                <a:spcPts val="3600"/>
              </a:lnSpc>
              <a:buFont typeface="Arial"/>
              <a:buChar char="•"/>
            </a:pPr>
            <a:r>
              <a:rPr lang="en-US" sz="3000">
                <a:solidFill>
                  <a:srgbClr val="000000"/>
                </a:solidFill>
                <a:latin typeface="Nourd"/>
                <a:ea typeface="Nourd"/>
                <a:cs typeface="Nourd"/>
                <a:sym typeface="Nourd"/>
              </a:rPr>
              <a:t>which region shares with most sales?</a:t>
            </a:r>
          </a:p>
          <a:p>
            <a:pPr algn="l" marL="647705" indent="-323852" lvl="1">
              <a:lnSpc>
                <a:spcPts val="3600"/>
              </a:lnSpc>
              <a:buFont typeface="Arial"/>
              <a:buChar char="•"/>
            </a:pPr>
            <a:r>
              <a:rPr lang="en-US" sz="3000">
                <a:solidFill>
                  <a:srgbClr val="000000"/>
                </a:solidFill>
                <a:latin typeface="Nourd"/>
                <a:ea typeface="Nourd"/>
                <a:cs typeface="Nourd"/>
                <a:sym typeface="Nourd"/>
              </a:rPr>
              <a:t>what are the most and least profitable product </a:t>
            </a:r>
          </a:p>
          <a:p>
            <a:pPr algn="l" marL="647705" indent="-323852" lvl="1">
              <a:lnSpc>
                <a:spcPts val="3600"/>
              </a:lnSpc>
              <a:buFont typeface="Arial"/>
              <a:buChar char="•"/>
            </a:pPr>
            <a:r>
              <a:rPr lang="en-US" sz="3000">
                <a:solidFill>
                  <a:srgbClr val="000000"/>
                </a:solidFill>
                <a:latin typeface="Nourd"/>
                <a:ea typeface="Nourd"/>
                <a:cs typeface="Nourd"/>
                <a:sym typeface="Nourd"/>
              </a:rPr>
              <a:t>how does the Discount impact total sales volume and overall profitability</a:t>
            </a:r>
          </a:p>
          <a:p>
            <a:pPr algn="l" marL="647705" indent="-323852" lvl="1">
              <a:lnSpc>
                <a:spcPts val="3600"/>
              </a:lnSpc>
              <a:buFont typeface="Arial"/>
              <a:buChar char="•"/>
            </a:pPr>
            <a:r>
              <a:rPr lang="en-US" sz="3000">
                <a:solidFill>
                  <a:srgbClr val="000000"/>
                </a:solidFill>
                <a:latin typeface="Nourd"/>
                <a:ea typeface="Nourd"/>
                <a:cs typeface="Nourd"/>
                <a:sym typeface="Nourd"/>
              </a:rPr>
              <a:t>what is the actual revenue from sold orders and the gap between it and total revenue from all orders?</a:t>
            </a:r>
          </a:p>
          <a:p>
            <a:pPr algn="l" marL="647705" indent="-323852" lvl="1">
              <a:lnSpc>
                <a:spcPts val="3600"/>
              </a:lnSpc>
              <a:buFont typeface="Arial"/>
              <a:buChar char="•"/>
            </a:pPr>
            <a:r>
              <a:rPr lang="en-US" sz="3000">
                <a:solidFill>
                  <a:srgbClr val="000000"/>
                </a:solidFill>
                <a:latin typeface="Nourd"/>
                <a:ea typeface="Nourd"/>
                <a:cs typeface="Nourd"/>
                <a:sym typeface="Nourd"/>
              </a:rPr>
              <a:t>what is the most preferred payment method and how that affects revenue? </a:t>
            </a:r>
          </a:p>
          <a:p>
            <a:pPr algn="l" marL="647705" indent="-323852" lvl="1">
              <a:lnSpc>
                <a:spcPts val="3600"/>
              </a:lnSpc>
              <a:buFont typeface="Arial"/>
              <a:buChar char="•"/>
            </a:pPr>
            <a:r>
              <a:rPr lang="en-US" sz="3000">
                <a:solidFill>
                  <a:srgbClr val="000000"/>
                </a:solidFill>
                <a:latin typeface="Nourd"/>
                <a:ea typeface="Nourd"/>
                <a:cs typeface="Nourd"/>
                <a:sym typeface="Nourd"/>
              </a:rPr>
              <a:t>what is delivery performance?</a:t>
            </a:r>
          </a:p>
          <a:p>
            <a:pPr algn="l" marL="647705" indent="-323852" lvl="1">
              <a:lnSpc>
                <a:spcPts val="3600"/>
              </a:lnSpc>
              <a:buFont typeface="Arial"/>
              <a:buChar char="•"/>
            </a:pPr>
            <a:r>
              <a:rPr lang="en-US" sz="3000">
                <a:solidFill>
                  <a:srgbClr val="000000"/>
                </a:solidFill>
                <a:latin typeface="Nourd"/>
                <a:ea typeface="Nourd"/>
                <a:cs typeface="Nourd"/>
                <a:sym typeface="Nourd"/>
              </a:rPr>
              <a:t>how many orders were late delivered? </a:t>
            </a:r>
          </a:p>
          <a:p>
            <a:pPr algn="l" marL="647705" indent="-323852" lvl="1">
              <a:lnSpc>
                <a:spcPts val="3600"/>
              </a:lnSpc>
              <a:buFont typeface="Arial"/>
              <a:buChar char="•"/>
            </a:pPr>
            <a:r>
              <a:rPr lang="en-US" sz="3000">
                <a:solidFill>
                  <a:srgbClr val="000000"/>
                </a:solidFill>
                <a:latin typeface="Nourd"/>
                <a:ea typeface="Nourd"/>
                <a:cs typeface="Nourd"/>
                <a:sym typeface="Nourd"/>
              </a:rPr>
              <a:t>what products are mostly late to be delivered?</a:t>
            </a:r>
          </a:p>
          <a:p>
            <a:pPr algn="l" marL="647705" indent="-323852" lvl="1">
              <a:lnSpc>
                <a:spcPts val="3600"/>
              </a:lnSpc>
              <a:buFont typeface="Arial"/>
              <a:buChar char="•"/>
            </a:pPr>
            <a:r>
              <a:rPr lang="en-US" sz="3000">
                <a:solidFill>
                  <a:srgbClr val="000000"/>
                </a:solidFill>
                <a:latin typeface="Nourd"/>
                <a:ea typeface="Nourd"/>
                <a:cs typeface="Nourd"/>
                <a:sym typeface="Nourd"/>
              </a:rPr>
              <a:t>which region is mostly late to deliver?</a:t>
            </a:r>
          </a:p>
          <a:p>
            <a:pPr algn="l">
              <a:lnSpc>
                <a:spcPts val="3600"/>
              </a:lnSpc>
            </a:pPr>
          </a:p>
          <a:p>
            <a:pPr algn="l">
              <a:lnSpc>
                <a:spcPts val="3600"/>
              </a:lnSpc>
            </a:pPr>
          </a:p>
          <a:p>
            <a:pPr algn="l">
              <a:lnSpc>
                <a:spcPts val="3600"/>
              </a:lnSpc>
            </a:pPr>
          </a:p>
          <a:p>
            <a:pPr algn="just">
              <a:lnSpc>
                <a:spcPts val="3600"/>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382134" y="1494595"/>
            <a:ext cx="10321370" cy="1795774"/>
          </a:xfrm>
          <a:prstGeom prst="rect">
            <a:avLst/>
          </a:prstGeom>
        </p:spPr>
        <p:txBody>
          <a:bodyPr anchor="t" rtlCol="false" tIns="0" lIns="0" bIns="0" rIns="0">
            <a:spAutoFit/>
          </a:bodyPr>
          <a:lstStyle/>
          <a:p>
            <a:pPr algn="l">
              <a:lnSpc>
                <a:spcPts val="14571"/>
              </a:lnSpc>
            </a:pPr>
            <a:r>
              <a:rPr lang="en-US" sz="10408">
                <a:solidFill>
                  <a:srgbClr val="000000"/>
                </a:solidFill>
                <a:latin typeface="Maiden Orange"/>
                <a:ea typeface="Maiden Orange"/>
                <a:cs typeface="Maiden Orange"/>
                <a:sym typeface="Maiden Orange"/>
              </a:rPr>
              <a:t>3- defining questions </a:t>
            </a:r>
          </a:p>
        </p:txBody>
      </p:sp>
      <p:sp>
        <p:nvSpPr>
          <p:cNvPr name="TextBox 6" id="6"/>
          <p:cNvSpPr txBox="true"/>
          <p:nvPr/>
        </p:nvSpPr>
        <p:spPr>
          <a:xfrm rot="0">
            <a:off x="4128563" y="3290368"/>
            <a:ext cx="10030874" cy="5943600"/>
          </a:xfrm>
          <a:prstGeom prst="rect">
            <a:avLst/>
          </a:prstGeom>
        </p:spPr>
        <p:txBody>
          <a:bodyPr anchor="t" rtlCol="false" tIns="0" lIns="0" bIns="0" rIns="0">
            <a:spAutoFit/>
          </a:bodyPr>
          <a:lstStyle/>
          <a:p>
            <a:pPr algn="l" marL="647705" indent="-323852" lvl="1">
              <a:lnSpc>
                <a:spcPts val="3600"/>
              </a:lnSpc>
              <a:buFont typeface="Arial"/>
              <a:buChar char="•"/>
            </a:pPr>
            <a:r>
              <a:rPr lang="en-US" sz="3000">
                <a:solidFill>
                  <a:srgbClr val="000000"/>
                </a:solidFill>
                <a:latin typeface="Nourd"/>
                <a:ea typeface="Nourd"/>
                <a:cs typeface="Nourd"/>
                <a:sym typeface="Nourd"/>
              </a:rPr>
              <a:t>what is the stock distribution across products categories?</a:t>
            </a:r>
          </a:p>
          <a:p>
            <a:pPr algn="l" marL="647705" indent="-323852" lvl="1">
              <a:lnSpc>
                <a:spcPts val="3600"/>
              </a:lnSpc>
              <a:buFont typeface="Arial"/>
              <a:buChar char="•"/>
            </a:pPr>
            <a:r>
              <a:rPr lang="en-US" sz="3000">
                <a:solidFill>
                  <a:srgbClr val="000000"/>
                </a:solidFill>
                <a:latin typeface="Nourd"/>
                <a:ea typeface="Nourd"/>
                <a:cs typeface="Nourd"/>
                <a:sym typeface="Nourd"/>
              </a:rPr>
              <a:t>what is the most common reason for product returns and what is its financial impact?</a:t>
            </a:r>
          </a:p>
          <a:p>
            <a:pPr algn="l" marL="647705" indent="-323852" lvl="1">
              <a:lnSpc>
                <a:spcPts val="3600"/>
              </a:lnSpc>
              <a:buFont typeface="Arial"/>
              <a:buChar char="•"/>
            </a:pPr>
            <a:r>
              <a:rPr lang="en-US" sz="3000">
                <a:solidFill>
                  <a:srgbClr val="000000"/>
                </a:solidFill>
                <a:latin typeface="Nourd"/>
                <a:ea typeface="Nourd"/>
                <a:cs typeface="Nourd"/>
                <a:sym typeface="Nourd"/>
              </a:rPr>
              <a:t>how many ordders are there each month?</a:t>
            </a:r>
          </a:p>
          <a:p>
            <a:pPr algn="l" marL="647705" indent="-323852" lvl="1">
              <a:lnSpc>
                <a:spcPts val="3600"/>
              </a:lnSpc>
              <a:buFont typeface="Arial"/>
              <a:buChar char="•"/>
            </a:pPr>
            <a:r>
              <a:rPr lang="en-US" sz="3000">
                <a:solidFill>
                  <a:srgbClr val="000000"/>
                </a:solidFill>
                <a:latin typeface="Nourd"/>
                <a:ea typeface="Nourd"/>
                <a:cs typeface="Nourd"/>
                <a:sym typeface="Nourd"/>
              </a:rPr>
              <a:t>what are the returned products across categories and what are their counts?</a:t>
            </a:r>
          </a:p>
          <a:p>
            <a:pPr algn="l" marL="647705" indent="-323852" lvl="1">
              <a:lnSpc>
                <a:spcPts val="3600"/>
              </a:lnSpc>
              <a:buFont typeface="Arial"/>
              <a:buChar char="•"/>
            </a:pPr>
            <a:r>
              <a:rPr lang="en-US" sz="3000">
                <a:solidFill>
                  <a:srgbClr val="000000"/>
                </a:solidFill>
                <a:latin typeface="Nourd"/>
                <a:ea typeface="Nourd"/>
                <a:cs typeface="Nourd"/>
                <a:sym typeface="Nourd"/>
              </a:rPr>
              <a:t>who are our main suppliers? (region)</a:t>
            </a:r>
          </a:p>
          <a:p>
            <a:pPr algn="l" marL="647705" indent="-323852" lvl="1">
              <a:lnSpc>
                <a:spcPts val="3600"/>
              </a:lnSpc>
              <a:buFont typeface="Arial"/>
              <a:buChar char="•"/>
            </a:pPr>
            <a:r>
              <a:rPr lang="en-US" sz="3000">
                <a:solidFill>
                  <a:srgbClr val="000000"/>
                </a:solidFill>
                <a:latin typeface="Nourd"/>
                <a:ea typeface="Nourd"/>
                <a:cs typeface="Nourd"/>
                <a:sym typeface="Nourd"/>
              </a:rPr>
              <a:t>which suppliers are associated with the highest number of products returns?</a:t>
            </a:r>
          </a:p>
          <a:p>
            <a:pPr algn="l">
              <a:lnSpc>
                <a:spcPts val="3600"/>
              </a:lnSpc>
            </a:pPr>
          </a:p>
          <a:p>
            <a:pPr algn="l">
              <a:lnSpc>
                <a:spcPts val="3600"/>
              </a:lnSpc>
            </a:pPr>
          </a:p>
          <a:p>
            <a:pPr algn="just">
              <a:lnSpc>
                <a:spcPts val="3600"/>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382134" y="1494595"/>
            <a:ext cx="10321370" cy="1795774"/>
          </a:xfrm>
          <a:prstGeom prst="rect">
            <a:avLst/>
          </a:prstGeom>
        </p:spPr>
        <p:txBody>
          <a:bodyPr anchor="t" rtlCol="false" tIns="0" lIns="0" bIns="0" rIns="0">
            <a:spAutoFit/>
          </a:bodyPr>
          <a:lstStyle/>
          <a:p>
            <a:pPr algn="l">
              <a:lnSpc>
                <a:spcPts val="14571"/>
              </a:lnSpc>
            </a:pPr>
            <a:r>
              <a:rPr lang="en-US" sz="10408">
                <a:solidFill>
                  <a:srgbClr val="000000"/>
                </a:solidFill>
                <a:latin typeface="Maiden Orange"/>
                <a:ea typeface="Maiden Orange"/>
                <a:cs typeface="Maiden Orange"/>
                <a:sym typeface="Maiden Orange"/>
              </a:rPr>
              <a:t>Main KPIs </a:t>
            </a:r>
          </a:p>
        </p:txBody>
      </p:sp>
      <p:sp>
        <p:nvSpPr>
          <p:cNvPr name="TextBox 6" id="6"/>
          <p:cNvSpPr txBox="true"/>
          <p:nvPr/>
        </p:nvSpPr>
        <p:spPr>
          <a:xfrm rot="0">
            <a:off x="3555068" y="3290368"/>
            <a:ext cx="10030874" cy="6858000"/>
          </a:xfrm>
          <a:prstGeom prst="rect">
            <a:avLst/>
          </a:prstGeom>
        </p:spPr>
        <p:txBody>
          <a:bodyPr anchor="t" rtlCol="false" tIns="0" lIns="0" bIns="0" rIns="0">
            <a:spAutoFit/>
          </a:bodyPr>
          <a:lstStyle/>
          <a:p>
            <a:pPr algn="l" marL="647705" indent="-323852" lvl="1">
              <a:lnSpc>
                <a:spcPts val="3600"/>
              </a:lnSpc>
              <a:buFont typeface="Arial"/>
              <a:buChar char="•"/>
            </a:pPr>
            <a:r>
              <a:rPr lang="en-US" sz="3000">
                <a:solidFill>
                  <a:srgbClr val="000000"/>
                </a:solidFill>
                <a:latin typeface="Nourd"/>
                <a:ea typeface="Nourd"/>
                <a:cs typeface="Nourd"/>
                <a:sym typeface="Nourd"/>
              </a:rPr>
              <a:t>Total revenue (per order)</a:t>
            </a:r>
          </a:p>
          <a:p>
            <a:pPr algn="l" marL="647705" indent="-323852" lvl="1">
              <a:lnSpc>
                <a:spcPts val="3600"/>
              </a:lnSpc>
              <a:buFont typeface="Arial"/>
              <a:buChar char="•"/>
            </a:pPr>
            <a:r>
              <a:rPr lang="en-US" sz="3000">
                <a:solidFill>
                  <a:srgbClr val="000000"/>
                </a:solidFill>
                <a:latin typeface="Nourd"/>
                <a:ea typeface="Nourd"/>
                <a:cs typeface="Nourd"/>
                <a:sym typeface="Nourd"/>
              </a:rPr>
              <a:t>Net revenue (only sold orders)</a:t>
            </a:r>
          </a:p>
          <a:p>
            <a:pPr algn="l" marL="647705" indent="-323852" lvl="1">
              <a:lnSpc>
                <a:spcPts val="3600"/>
              </a:lnSpc>
              <a:buFont typeface="Arial"/>
              <a:buChar char="•"/>
            </a:pPr>
            <a:r>
              <a:rPr lang="en-US" sz="3000">
                <a:solidFill>
                  <a:srgbClr val="000000"/>
                </a:solidFill>
                <a:latin typeface="Nourd"/>
                <a:ea typeface="Nourd"/>
                <a:cs typeface="Nourd"/>
                <a:sym typeface="Nourd"/>
              </a:rPr>
              <a:t>Total orders </a:t>
            </a:r>
          </a:p>
          <a:p>
            <a:pPr algn="l" marL="647705" indent="-323852" lvl="1">
              <a:lnSpc>
                <a:spcPts val="3600"/>
              </a:lnSpc>
              <a:buFont typeface="Arial"/>
              <a:buChar char="•"/>
            </a:pPr>
            <a:r>
              <a:rPr lang="en-US" sz="3000">
                <a:solidFill>
                  <a:srgbClr val="000000"/>
                </a:solidFill>
                <a:latin typeface="Nourd"/>
                <a:ea typeface="Nourd"/>
                <a:cs typeface="Nourd"/>
                <a:sym typeface="Nourd"/>
              </a:rPr>
              <a:t>Total sold orders</a:t>
            </a:r>
          </a:p>
          <a:p>
            <a:pPr algn="l" marL="647705" indent="-323852" lvl="1">
              <a:lnSpc>
                <a:spcPts val="3600"/>
              </a:lnSpc>
              <a:buFont typeface="Arial"/>
              <a:buChar char="•"/>
            </a:pPr>
            <a:r>
              <a:rPr lang="en-US" sz="3000">
                <a:solidFill>
                  <a:srgbClr val="000000"/>
                </a:solidFill>
                <a:latin typeface="Nourd"/>
                <a:ea typeface="Nourd"/>
                <a:cs typeface="Nourd"/>
                <a:sym typeface="Nourd"/>
              </a:rPr>
              <a:t>Avg revenue by order </a:t>
            </a:r>
          </a:p>
          <a:p>
            <a:pPr algn="l" marL="647705" indent="-323852" lvl="1">
              <a:lnSpc>
                <a:spcPts val="3600"/>
              </a:lnSpc>
              <a:buFont typeface="Arial"/>
              <a:buChar char="•"/>
            </a:pPr>
            <a:r>
              <a:rPr lang="en-US" sz="3000">
                <a:solidFill>
                  <a:srgbClr val="000000"/>
                </a:solidFill>
                <a:latin typeface="Nourd"/>
                <a:ea typeface="Nourd"/>
                <a:cs typeface="Nourd"/>
                <a:sym typeface="Nourd"/>
              </a:rPr>
              <a:t>Avg cost by order </a:t>
            </a:r>
          </a:p>
          <a:p>
            <a:pPr algn="l" marL="647705" indent="-323852" lvl="1">
              <a:lnSpc>
                <a:spcPts val="3600"/>
              </a:lnSpc>
              <a:buFont typeface="Arial"/>
              <a:buChar char="•"/>
            </a:pPr>
            <a:r>
              <a:rPr lang="en-US" sz="3000">
                <a:solidFill>
                  <a:srgbClr val="000000"/>
                </a:solidFill>
                <a:latin typeface="Nourd"/>
                <a:ea typeface="Nourd"/>
                <a:cs typeface="Nourd"/>
                <a:sym typeface="Nourd"/>
              </a:rPr>
              <a:t>Total profit </a:t>
            </a:r>
          </a:p>
          <a:p>
            <a:pPr algn="l" marL="647705" indent="-323852" lvl="1">
              <a:lnSpc>
                <a:spcPts val="3600"/>
              </a:lnSpc>
              <a:buFont typeface="Arial"/>
              <a:buChar char="•"/>
            </a:pPr>
            <a:r>
              <a:rPr lang="en-US" sz="3000">
                <a:solidFill>
                  <a:srgbClr val="000000"/>
                </a:solidFill>
                <a:latin typeface="Nourd"/>
                <a:ea typeface="Nourd"/>
                <a:cs typeface="Nourd"/>
                <a:sym typeface="Nourd"/>
              </a:rPr>
              <a:t>Profit margin </a:t>
            </a:r>
          </a:p>
          <a:p>
            <a:pPr algn="l" marL="647705" indent="-323852" lvl="1">
              <a:lnSpc>
                <a:spcPts val="3600"/>
              </a:lnSpc>
              <a:buFont typeface="Arial"/>
              <a:buChar char="•"/>
            </a:pPr>
            <a:r>
              <a:rPr lang="en-US" sz="3000">
                <a:solidFill>
                  <a:srgbClr val="000000"/>
                </a:solidFill>
                <a:latin typeface="Nourd"/>
                <a:ea typeface="Nourd"/>
                <a:cs typeface="Nourd"/>
                <a:sym typeface="Nourd"/>
              </a:rPr>
              <a:t>Delayed orders </a:t>
            </a:r>
          </a:p>
          <a:p>
            <a:pPr algn="l" marL="647705" indent="-323852" lvl="1">
              <a:lnSpc>
                <a:spcPts val="3600"/>
              </a:lnSpc>
              <a:buFont typeface="Arial"/>
              <a:buChar char="•"/>
            </a:pPr>
            <a:r>
              <a:rPr lang="en-US" sz="3000">
                <a:solidFill>
                  <a:srgbClr val="000000"/>
                </a:solidFill>
                <a:latin typeface="Nourd"/>
                <a:ea typeface="Nourd"/>
                <a:cs typeface="Nourd"/>
                <a:sym typeface="Nourd"/>
              </a:rPr>
              <a:t>Avg delivery time </a:t>
            </a:r>
          </a:p>
          <a:p>
            <a:pPr algn="l" marL="647705" indent="-323852" lvl="1">
              <a:lnSpc>
                <a:spcPts val="3600"/>
              </a:lnSpc>
              <a:buFont typeface="Arial"/>
              <a:buChar char="•"/>
            </a:pPr>
            <a:r>
              <a:rPr lang="en-US" sz="3000">
                <a:solidFill>
                  <a:srgbClr val="000000"/>
                </a:solidFill>
                <a:latin typeface="Nourd"/>
                <a:ea typeface="Nourd"/>
                <a:cs typeface="Nourd"/>
                <a:sym typeface="Nourd"/>
              </a:rPr>
              <a:t>Delayed region </a:t>
            </a:r>
          </a:p>
          <a:p>
            <a:pPr algn="l" marL="647705" indent="-323852" lvl="1">
              <a:lnSpc>
                <a:spcPts val="3600"/>
              </a:lnSpc>
              <a:buFont typeface="Arial"/>
              <a:buChar char="•"/>
            </a:pPr>
            <a:r>
              <a:rPr lang="en-US" sz="3000">
                <a:solidFill>
                  <a:srgbClr val="000000"/>
                </a:solidFill>
                <a:latin typeface="Nourd"/>
                <a:ea typeface="Nourd"/>
                <a:cs typeface="Nourd"/>
                <a:sym typeface="Nourd"/>
              </a:rPr>
              <a:t>Returned products </a:t>
            </a:r>
          </a:p>
          <a:p>
            <a:pPr algn="l" marL="647705" indent="-323852" lvl="1">
              <a:lnSpc>
                <a:spcPts val="3600"/>
              </a:lnSpc>
              <a:buFont typeface="Arial"/>
              <a:buChar char="•"/>
            </a:pPr>
            <a:r>
              <a:rPr lang="en-US" sz="3000">
                <a:solidFill>
                  <a:srgbClr val="000000"/>
                </a:solidFill>
                <a:latin typeface="Nourd"/>
                <a:ea typeface="Nourd"/>
                <a:cs typeface="Nourd"/>
                <a:sym typeface="Nourd"/>
              </a:rPr>
              <a:t>Refund amount</a:t>
            </a:r>
          </a:p>
          <a:p>
            <a:pPr algn="l" marL="647705" indent="-323852" lvl="1">
              <a:lnSpc>
                <a:spcPts val="3600"/>
              </a:lnSpc>
              <a:buFont typeface="Arial"/>
              <a:buChar char="•"/>
            </a:pPr>
            <a:r>
              <a:rPr lang="en-US" sz="3000">
                <a:solidFill>
                  <a:srgbClr val="000000"/>
                </a:solidFill>
                <a:latin typeface="Nourd"/>
                <a:ea typeface="Nourd"/>
                <a:cs typeface="Nourd"/>
                <a:sym typeface="Nourd"/>
              </a:rPr>
              <a:t>Return rate</a:t>
            </a:r>
          </a:p>
          <a:p>
            <a:pPr algn="l" marL="647705" indent="-323852" lvl="1">
              <a:lnSpc>
                <a:spcPts val="3600"/>
              </a:lnSpc>
              <a:buFont typeface="Arial"/>
              <a:buChar char="•"/>
            </a:pPr>
            <a:r>
              <a:rPr lang="en-US" sz="3000">
                <a:solidFill>
                  <a:srgbClr val="000000"/>
                </a:solidFill>
                <a:latin typeface="Nourd"/>
                <a:ea typeface="Nourd"/>
                <a:cs typeface="Nourd"/>
                <a:sym typeface="Nourd"/>
              </a:rPr>
              <a:t>Stock distribution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478914" y="1820440"/>
            <a:ext cx="14634846" cy="8106609"/>
          </a:xfrm>
          <a:custGeom>
            <a:avLst/>
            <a:gdLst/>
            <a:ahLst/>
            <a:cxnLst/>
            <a:rect r="r" b="b" t="t" l="l"/>
            <a:pathLst>
              <a:path h="8106609" w="14634846">
                <a:moveTo>
                  <a:pt x="0" y="0"/>
                </a:moveTo>
                <a:lnTo>
                  <a:pt x="14634845" y="0"/>
                </a:lnTo>
                <a:lnTo>
                  <a:pt x="14634845" y="8106609"/>
                </a:lnTo>
                <a:lnTo>
                  <a:pt x="0" y="8106609"/>
                </a:lnTo>
                <a:lnTo>
                  <a:pt x="0" y="0"/>
                </a:lnTo>
                <a:close/>
              </a:path>
            </a:pathLst>
          </a:custGeom>
          <a:blipFill>
            <a:blip r:embed="rId3"/>
            <a:stretch>
              <a:fillRect l="0" t="0" r="0" b="0"/>
            </a:stretch>
          </a:blipFill>
        </p:spPr>
      </p:sp>
      <p:sp>
        <p:nvSpPr>
          <p:cNvPr name="TextBox 4" id="4"/>
          <p:cNvSpPr txBox="true"/>
          <p:nvPr/>
        </p:nvSpPr>
        <p:spPr>
          <a:xfrm rot="0">
            <a:off x="3635651" y="27410"/>
            <a:ext cx="10321370" cy="1793030"/>
          </a:xfrm>
          <a:prstGeom prst="rect">
            <a:avLst/>
          </a:prstGeom>
        </p:spPr>
        <p:txBody>
          <a:bodyPr anchor="t" rtlCol="false" tIns="0" lIns="0" bIns="0" rIns="0">
            <a:spAutoFit/>
          </a:bodyPr>
          <a:lstStyle/>
          <a:p>
            <a:pPr algn="ctr">
              <a:lnSpc>
                <a:spcPts val="14571"/>
              </a:lnSpc>
            </a:pPr>
            <a:r>
              <a:rPr lang="en-US" sz="10408">
                <a:solidFill>
                  <a:srgbClr val="000000"/>
                </a:solidFill>
                <a:latin typeface="Maiden Orange"/>
                <a:ea typeface="Maiden Orange"/>
                <a:cs typeface="Maiden Orange"/>
                <a:sym typeface="Maiden Orange"/>
              </a:rPr>
              <a:t>Tableau dashboard</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2009881" y="1820440"/>
            <a:ext cx="14268238" cy="7990213"/>
          </a:xfrm>
          <a:custGeom>
            <a:avLst/>
            <a:gdLst/>
            <a:ahLst/>
            <a:cxnLst/>
            <a:rect r="r" b="b" t="t" l="l"/>
            <a:pathLst>
              <a:path h="7990213" w="14268238">
                <a:moveTo>
                  <a:pt x="0" y="0"/>
                </a:moveTo>
                <a:lnTo>
                  <a:pt x="14268238" y="0"/>
                </a:lnTo>
                <a:lnTo>
                  <a:pt x="14268238" y="7990213"/>
                </a:lnTo>
                <a:lnTo>
                  <a:pt x="0" y="7990213"/>
                </a:lnTo>
                <a:lnTo>
                  <a:pt x="0" y="0"/>
                </a:lnTo>
                <a:close/>
              </a:path>
            </a:pathLst>
          </a:custGeom>
          <a:blipFill>
            <a:blip r:embed="rId3"/>
            <a:stretch>
              <a:fillRect l="0" t="0" r="0" b="0"/>
            </a:stretch>
          </a:blipFill>
        </p:spPr>
      </p:sp>
      <p:sp>
        <p:nvSpPr>
          <p:cNvPr name="TextBox 4" id="4"/>
          <p:cNvSpPr txBox="true"/>
          <p:nvPr/>
        </p:nvSpPr>
        <p:spPr>
          <a:xfrm rot="0">
            <a:off x="3635651" y="27410"/>
            <a:ext cx="10321370" cy="1793030"/>
          </a:xfrm>
          <a:prstGeom prst="rect">
            <a:avLst/>
          </a:prstGeom>
        </p:spPr>
        <p:txBody>
          <a:bodyPr anchor="t" rtlCol="false" tIns="0" lIns="0" bIns="0" rIns="0">
            <a:spAutoFit/>
          </a:bodyPr>
          <a:lstStyle/>
          <a:p>
            <a:pPr algn="ctr">
              <a:lnSpc>
                <a:spcPts val="14571"/>
              </a:lnSpc>
            </a:pPr>
            <a:r>
              <a:rPr lang="en-US" sz="10408">
                <a:solidFill>
                  <a:srgbClr val="000000"/>
                </a:solidFill>
                <a:latin typeface="Maiden Orange"/>
                <a:ea typeface="Maiden Orange"/>
                <a:cs typeface="Maiden Orange"/>
                <a:sym typeface="Maiden Orange"/>
              </a:rPr>
              <a:t>Power BI dashboard</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771075" y="2142994"/>
            <a:ext cx="16050524" cy="7323224"/>
          </a:xfrm>
          <a:custGeom>
            <a:avLst/>
            <a:gdLst/>
            <a:ahLst/>
            <a:cxnLst/>
            <a:rect r="r" b="b" t="t" l="l"/>
            <a:pathLst>
              <a:path h="7323224" w="16050524">
                <a:moveTo>
                  <a:pt x="0" y="0"/>
                </a:moveTo>
                <a:lnTo>
                  <a:pt x="16050523" y="0"/>
                </a:lnTo>
                <a:lnTo>
                  <a:pt x="16050523" y="7323223"/>
                </a:lnTo>
                <a:lnTo>
                  <a:pt x="0" y="7323223"/>
                </a:lnTo>
                <a:lnTo>
                  <a:pt x="0" y="0"/>
                </a:lnTo>
                <a:close/>
              </a:path>
            </a:pathLst>
          </a:custGeom>
          <a:blipFill>
            <a:blip r:embed="rId3"/>
            <a:stretch>
              <a:fillRect l="0" t="0" r="0" b="0"/>
            </a:stretch>
          </a:blipFill>
        </p:spPr>
      </p:sp>
      <p:sp>
        <p:nvSpPr>
          <p:cNvPr name="TextBox 4" id="4"/>
          <p:cNvSpPr txBox="true"/>
          <p:nvPr/>
        </p:nvSpPr>
        <p:spPr>
          <a:xfrm rot="0">
            <a:off x="3635651" y="27410"/>
            <a:ext cx="10321370" cy="1793030"/>
          </a:xfrm>
          <a:prstGeom prst="rect">
            <a:avLst/>
          </a:prstGeom>
        </p:spPr>
        <p:txBody>
          <a:bodyPr anchor="t" rtlCol="false" tIns="0" lIns="0" bIns="0" rIns="0">
            <a:spAutoFit/>
          </a:bodyPr>
          <a:lstStyle/>
          <a:p>
            <a:pPr algn="ctr">
              <a:lnSpc>
                <a:spcPts val="14571"/>
              </a:lnSpc>
            </a:pPr>
            <a:r>
              <a:rPr lang="en-US" sz="10408">
                <a:solidFill>
                  <a:srgbClr val="000000"/>
                </a:solidFill>
                <a:latin typeface="Maiden Orange"/>
                <a:ea typeface="Maiden Orange"/>
                <a:cs typeface="Maiden Orange"/>
                <a:sym typeface="Maiden Orange"/>
              </a:rPr>
              <a:t>Python dashboard</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452616" y="2338753"/>
            <a:ext cx="15382767" cy="7493039"/>
          </a:xfrm>
          <a:custGeom>
            <a:avLst/>
            <a:gdLst/>
            <a:ahLst/>
            <a:cxnLst/>
            <a:rect r="r" b="b" t="t" l="l"/>
            <a:pathLst>
              <a:path h="7493039" w="15382767">
                <a:moveTo>
                  <a:pt x="0" y="0"/>
                </a:moveTo>
                <a:lnTo>
                  <a:pt x="15382768" y="0"/>
                </a:lnTo>
                <a:lnTo>
                  <a:pt x="15382768" y="7493039"/>
                </a:lnTo>
                <a:lnTo>
                  <a:pt x="0" y="7493039"/>
                </a:lnTo>
                <a:lnTo>
                  <a:pt x="0" y="0"/>
                </a:lnTo>
                <a:close/>
              </a:path>
            </a:pathLst>
          </a:custGeom>
          <a:blipFill>
            <a:blip r:embed="rId3"/>
            <a:stretch>
              <a:fillRect l="0" t="0" r="0" b="0"/>
            </a:stretch>
          </a:blipFill>
        </p:spPr>
      </p:sp>
      <p:sp>
        <p:nvSpPr>
          <p:cNvPr name="TextBox 4" id="4"/>
          <p:cNvSpPr txBox="true"/>
          <p:nvPr/>
        </p:nvSpPr>
        <p:spPr>
          <a:xfrm rot="0">
            <a:off x="3635651" y="27410"/>
            <a:ext cx="10321370" cy="1793030"/>
          </a:xfrm>
          <a:prstGeom prst="rect">
            <a:avLst/>
          </a:prstGeom>
        </p:spPr>
        <p:txBody>
          <a:bodyPr anchor="t" rtlCol="false" tIns="0" lIns="0" bIns="0" rIns="0">
            <a:spAutoFit/>
          </a:bodyPr>
          <a:lstStyle/>
          <a:p>
            <a:pPr algn="ctr">
              <a:lnSpc>
                <a:spcPts val="14571"/>
              </a:lnSpc>
            </a:pPr>
            <a:r>
              <a:rPr lang="en-US" sz="10408">
                <a:solidFill>
                  <a:srgbClr val="000000"/>
                </a:solidFill>
                <a:latin typeface="Maiden Orange"/>
                <a:ea typeface="Maiden Orange"/>
                <a:cs typeface="Maiden Orange"/>
                <a:sym typeface="Maiden Orange"/>
              </a:rPr>
              <a:t>Excel dashboard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382134" y="1504120"/>
            <a:ext cx="9777303" cy="1685679"/>
          </a:xfrm>
          <a:prstGeom prst="rect">
            <a:avLst/>
          </a:prstGeom>
        </p:spPr>
        <p:txBody>
          <a:bodyPr anchor="t" rtlCol="false" tIns="0" lIns="0" bIns="0" rIns="0">
            <a:spAutoFit/>
          </a:bodyPr>
          <a:lstStyle/>
          <a:p>
            <a:pPr algn="l">
              <a:lnSpc>
                <a:spcPts val="13663"/>
              </a:lnSpc>
            </a:pPr>
            <a:r>
              <a:rPr lang="en-US" sz="9759">
                <a:solidFill>
                  <a:srgbClr val="000000"/>
                </a:solidFill>
                <a:latin typeface="Maiden Orange"/>
                <a:ea typeface="Maiden Orange"/>
                <a:cs typeface="Maiden Orange"/>
                <a:sym typeface="Maiden Orange"/>
              </a:rPr>
              <a:t>5- Analysis &amp; Reporting </a:t>
            </a:r>
          </a:p>
        </p:txBody>
      </p:sp>
      <p:sp>
        <p:nvSpPr>
          <p:cNvPr name="TextBox 6" id="6"/>
          <p:cNvSpPr txBox="true"/>
          <p:nvPr/>
        </p:nvSpPr>
        <p:spPr>
          <a:xfrm rot="0">
            <a:off x="4128563" y="3290368"/>
            <a:ext cx="10030874" cy="7315200"/>
          </a:xfrm>
          <a:prstGeom prst="rect">
            <a:avLst/>
          </a:prstGeom>
        </p:spPr>
        <p:txBody>
          <a:bodyPr anchor="t" rtlCol="false" tIns="0" lIns="0" bIns="0" rIns="0">
            <a:spAutoFit/>
          </a:bodyPr>
          <a:lstStyle/>
          <a:p>
            <a:pPr algn="ctr">
              <a:lnSpc>
                <a:spcPts val="3600"/>
              </a:lnSpc>
            </a:pPr>
            <a:r>
              <a:rPr lang="en-US" sz="3000" b="true">
                <a:solidFill>
                  <a:srgbClr val="000000"/>
                </a:solidFill>
                <a:latin typeface="Nourd Bold"/>
                <a:ea typeface="Nourd Bold"/>
                <a:cs typeface="Nourd Bold"/>
                <a:sym typeface="Nourd Bold"/>
              </a:rPr>
              <a:t>Exacutive summary</a:t>
            </a:r>
          </a:p>
          <a:p>
            <a:pPr algn="ctr">
              <a:lnSpc>
                <a:spcPts val="3600"/>
              </a:lnSpc>
            </a:pPr>
          </a:p>
          <a:p>
            <a:pPr algn="l" marL="647705" indent="-323852" lvl="1">
              <a:lnSpc>
                <a:spcPts val="3600"/>
              </a:lnSpc>
              <a:buFont typeface="Arial"/>
              <a:buChar char="•"/>
            </a:pPr>
            <a:r>
              <a:rPr lang="en-US" sz="3000">
                <a:solidFill>
                  <a:srgbClr val="000000"/>
                </a:solidFill>
                <a:latin typeface="Nourd"/>
                <a:ea typeface="Nourd"/>
                <a:cs typeface="Nourd"/>
                <a:sym typeface="Nourd"/>
              </a:rPr>
              <a:t>‘West’ has the highest numbers of orders, however, it is the most delayed region </a:t>
            </a:r>
          </a:p>
          <a:p>
            <a:pPr algn="l" marL="647705" indent="-323852" lvl="1">
              <a:lnSpc>
                <a:spcPts val="3600"/>
              </a:lnSpc>
              <a:buFont typeface="Arial"/>
              <a:buChar char="•"/>
            </a:pPr>
            <a:r>
              <a:rPr lang="en-US" sz="3000">
                <a:solidFill>
                  <a:srgbClr val="000000"/>
                </a:solidFill>
                <a:latin typeface="Nourd"/>
                <a:ea typeface="Nourd"/>
                <a:cs typeface="Nourd"/>
                <a:sym typeface="Nourd"/>
              </a:rPr>
              <a:t>Return rate is close to 10% which means approximately 1000 orders were returned </a:t>
            </a:r>
          </a:p>
          <a:p>
            <a:pPr algn="l" marL="647705" indent="-323852" lvl="1">
              <a:lnSpc>
                <a:spcPts val="3600"/>
              </a:lnSpc>
              <a:buFont typeface="Arial"/>
              <a:buChar char="•"/>
            </a:pPr>
            <a:r>
              <a:rPr lang="en-US" sz="3000">
                <a:solidFill>
                  <a:srgbClr val="000000"/>
                </a:solidFill>
                <a:latin typeface="Nourd"/>
                <a:ea typeface="Nourd"/>
                <a:cs typeface="Nourd"/>
                <a:sym typeface="Nourd"/>
              </a:rPr>
              <a:t> highly ordered product is “sunscreen”, while “Hydrating moisturizer” shared highest revenue (sold and not returned)</a:t>
            </a:r>
          </a:p>
          <a:p>
            <a:pPr algn="l" marL="647705" indent="-323852" lvl="1">
              <a:lnSpc>
                <a:spcPts val="3600"/>
              </a:lnSpc>
              <a:buFont typeface="Arial"/>
              <a:buChar char="•"/>
            </a:pPr>
            <a:r>
              <a:rPr lang="en-US" sz="3000">
                <a:solidFill>
                  <a:srgbClr val="000000"/>
                </a:solidFill>
                <a:latin typeface="Nourd"/>
                <a:ea typeface="Nourd"/>
                <a:cs typeface="Nourd"/>
                <a:sym typeface="Nourd"/>
              </a:rPr>
              <a:t>Total revenue by order is about 162M, while orders that already sold make about 40.8M, indicating a significant gap.</a:t>
            </a:r>
          </a:p>
          <a:p>
            <a:pPr algn="l" marL="647705" indent="-323852" lvl="1">
              <a:lnSpc>
                <a:spcPts val="3600"/>
              </a:lnSpc>
              <a:buFont typeface="Arial"/>
              <a:buChar char="•"/>
            </a:pPr>
            <a:r>
              <a:rPr lang="en-US" sz="3000">
                <a:solidFill>
                  <a:srgbClr val="000000"/>
                </a:solidFill>
                <a:latin typeface="Nourd"/>
                <a:ea typeface="Nourd"/>
                <a:cs typeface="Nourd"/>
                <a:sym typeface="Nourd"/>
              </a:rPr>
              <a:t>Most products were returned because they were damaged </a:t>
            </a:r>
          </a:p>
          <a:p>
            <a:pPr algn="l">
              <a:lnSpc>
                <a:spcPts val="3600"/>
              </a:lnSpc>
            </a:pPr>
          </a:p>
          <a:p>
            <a:pPr algn="l">
              <a:lnSpc>
                <a:spcPts val="3600"/>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382134" y="1504120"/>
            <a:ext cx="9777303" cy="1685679"/>
          </a:xfrm>
          <a:prstGeom prst="rect">
            <a:avLst/>
          </a:prstGeom>
        </p:spPr>
        <p:txBody>
          <a:bodyPr anchor="t" rtlCol="false" tIns="0" lIns="0" bIns="0" rIns="0">
            <a:spAutoFit/>
          </a:bodyPr>
          <a:lstStyle/>
          <a:p>
            <a:pPr algn="l">
              <a:lnSpc>
                <a:spcPts val="13663"/>
              </a:lnSpc>
            </a:pPr>
            <a:r>
              <a:rPr lang="en-US" sz="9759">
                <a:solidFill>
                  <a:srgbClr val="000000"/>
                </a:solidFill>
                <a:latin typeface="Maiden Orange"/>
                <a:ea typeface="Maiden Orange"/>
                <a:cs typeface="Maiden Orange"/>
                <a:sym typeface="Maiden Orange"/>
              </a:rPr>
              <a:t>5- Analysis &amp; Reporting </a:t>
            </a:r>
          </a:p>
        </p:txBody>
      </p:sp>
      <p:sp>
        <p:nvSpPr>
          <p:cNvPr name="TextBox 6" id="6"/>
          <p:cNvSpPr txBox="true"/>
          <p:nvPr/>
        </p:nvSpPr>
        <p:spPr>
          <a:xfrm rot="0">
            <a:off x="4128563" y="3290368"/>
            <a:ext cx="10030874" cy="6858000"/>
          </a:xfrm>
          <a:prstGeom prst="rect">
            <a:avLst/>
          </a:prstGeom>
        </p:spPr>
        <p:txBody>
          <a:bodyPr anchor="t" rtlCol="false" tIns="0" lIns="0" bIns="0" rIns="0">
            <a:spAutoFit/>
          </a:bodyPr>
          <a:lstStyle/>
          <a:p>
            <a:pPr algn="ctr">
              <a:lnSpc>
                <a:spcPts val="3600"/>
              </a:lnSpc>
            </a:pPr>
            <a:r>
              <a:rPr lang="en-US" sz="3000" b="true">
                <a:solidFill>
                  <a:srgbClr val="000000"/>
                </a:solidFill>
                <a:latin typeface="Nourd Bold"/>
                <a:ea typeface="Nourd Bold"/>
                <a:cs typeface="Nourd Bold"/>
                <a:sym typeface="Nourd Bold"/>
              </a:rPr>
              <a:t>Sales Performance</a:t>
            </a:r>
          </a:p>
          <a:p>
            <a:pPr algn="ctr">
              <a:lnSpc>
                <a:spcPts val="3600"/>
              </a:lnSpc>
            </a:pPr>
          </a:p>
          <a:p>
            <a:pPr algn="l" marL="647705" indent="-323852" lvl="1">
              <a:lnSpc>
                <a:spcPts val="3600"/>
              </a:lnSpc>
              <a:buFont typeface="Arial"/>
              <a:buChar char="•"/>
            </a:pPr>
            <a:r>
              <a:rPr lang="en-US" sz="3000">
                <a:solidFill>
                  <a:srgbClr val="000000"/>
                </a:solidFill>
                <a:latin typeface="Nourd"/>
                <a:ea typeface="Nourd"/>
                <a:cs typeface="Nourd"/>
                <a:sym typeface="Nourd"/>
              </a:rPr>
              <a:t>Incr</a:t>
            </a:r>
            <a:r>
              <a:rPr lang="en-US" sz="3000">
                <a:solidFill>
                  <a:srgbClr val="000000"/>
                </a:solidFill>
                <a:latin typeface="Nourd"/>
                <a:ea typeface="Nourd"/>
                <a:cs typeface="Nourd"/>
                <a:sym typeface="Nourd"/>
              </a:rPr>
              <a:t>easing discount rates negatively impacted profitability, while revenue growth remained relatively limited. </a:t>
            </a:r>
          </a:p>
          <a:p>
            <a:pPr algn="l" marL="647705" indent="-323852" lvl="1">
              <a:lnSpc>
                <a:spcPts val="3600"/>
              </a:lnSpc>
              <a:buFont typeface="Arial"/>
              <a:buChar char="•"/>
            </a:pPr>
            <a:r>
              <a:rPr lang="en-US" sz="3000">
                <a:solidFill>
                  <a:srgbClr val="000000"/>
                </a:solidFill>
                <a:latin typeface="Nourd"/>
                <a:ea typeface="Nourd"/>
                <a:cs typeface="Nourd"/>
                <a:sym typeface="Nourd"/>
              </a:rPr>
              <a:t>Highest-demand category is skincare, indicating strong customer interest in personal care products.</a:t>
            </a:r>
          </a:p>
          <a:p>
            <a:pPr algn="l" marL="647705" indent="-323852" lvl="1">
              <a:lnSpc>
                <a:spcPts val="3600"/>
              </a:lnSpc>
              <a:buFont typeface="Arial"/>
              <a:buChar char="•"/>
            </a:pPr>
            <a:r>
              <a:rPr lang="en-US" sz="3000">
                <a:solidFill>
                  <a:srgbClr val="000000"/>
                </a:solidFill>
                <a:latin typeface="Nourd"/>
                <a:ea typeface="Nourd"/>
                <a:cs typeface="Nourd"/>
                <a:sym typeface="Nourd"/>
              </a:rPr>
              <a:t>Cost per order is higher than revenue per order, which says that we’re losing.</a:t>
            </a:r>
          </a:p>
          <a:p>
            <a:pPr algn="l" marL="647705" indent="-323852" lvl="1">
              <a:lnSpc>
                <a:spcPts val="3600"/>
              </a:lnSpc>
              <a:buFont typeface="Arial"/>
              <a:buChar char="•"/>
            </a:pPr>
            <a:r>
              <a:rPr lang="en-US" sz="3000">
                <a:solidFill>
                  <a:srgbClr val="000000"/>
                </a:solidFill>
                <a:latin typeface="Nourd"/>
                <a:ea typeface="Nourd"/>
                <a:cs typeface="Nourd"/>
                <a:sym typeface="Nourd"/>
              </a:rPr>
              <a:t>company maintains a high overall inventory level, however, some products remain understocked or unavailable.</a:t>
            </a:r>
          </a:p>
          <a:p>
            <a:pPr algn="l">
              <a:lnSpc>
                <a:spcPts val="3600"/>
              </a:lnSpc>
            </a:pPr>
          </a:p>
          <a:p>
            <a:pPr algn="l">
              <a:lnSpc>
                <a:spcPts val="3600"/>
              </a:lnSpc>
            </a:pPr>
          </a:p>
          <a:p>
            <a:pPr algn="l">
              <a:lnSpc>
                <a:spcPts val="360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382134" y="1504120"/>
            <a:ext cx="9777303" cy="1685679"/>
          </a:xfrm>
          <a:prstGeom prst="rect">
            <a:avLst/>
          </a:prstGeom>
        </p:spPr>
        <p:txBody>
          <a:bodyPr anchor="t" rtlCol="false" tIns="0" lIns="0" bIns="0" rIns="0">
            <a:spAutoFit/>
          </a:bodyPr>
          <a:lstStyle/>
          <a:p>
            <a:pPr algn="l">
              <a:lnSpc>
                <a:spcPts val="13663"/>
              </a:lnSpc>
            </a:pPr>
            <a:r>
              <a:rPr lang="en-US" sz="9759">
                <a:solidFill>
                  <a:srgbClr val="000000"/>
                </a:solidFill>
                <a:latin typeface="Maiden Orange"/>
                <a:ea typeface="Maiden Orange"/>
                <a:cs typeface="Maiden Orange"/>
                <a:sym typeface="Maiden Orange"/>
              </a:rPr>
              <a:t>5- Analysis &amp; Reporting </a:t>
            </a:r>
          </a:p>
        </p:txBody>
      </p:sp>
      <p:sp>
        <p:nvSpPr>
          <p:cNvPr name="TextBox 6" id="6"/>
          <p:cNvSpPr txBox="true"/>
          <p:nvPr/>
        </p:nvSpPr>
        <p:spPr>
          <a:xfrm rot="0">
            <a:off x="4128563" y="3290368"/>
            <a:ext cx="10030874" cy="3657600"/>
          </a:xfrm>
          <a:prstGeom prst="rect">
            <a:avLst/>
          </a:prstGeom>
        </p:spPr>
        <p:txBody>
          <a:bodyPr anchor="t" rtlCol="false" tIns="0" lIns="0" bIns="0" rIns="0">
            <a:spAutoFit/>
          </a:bodyPr>
          <a:lstStyle/>
          <a:p>
            <a:pPr algn="ctr">
              <a:lnSpc>
                <a:spcPts val="3600"/>
              </a:lnSpc>
            </a:pPr>
            <a:r>
              <a:rPr lang="en-US" sz="3000" b="true">
                <a:solidFill>
                  <a:srgbClr val="000000"/>
                </a:solidFill>
                <a:latin typeface="Nourd Bold"/>
                <a:ea typeface="Nourd Bold"/>
                <a:cs typeface="Nourd Bold"/>
                <a:sym typeface="Nourd Bold"/>
              </a:rPr>
              <a:t>Return analysis</a:t>
            </a:r>
          </a:p>
          <a:p>
            <a:pPr algn="ctr">
              <a:lnSpc>
                <a:spcPts val="3600"/>
              </a:lnSpc>
            </a:pPr>
          </a:p>
          <a:p>
            <a:pPr algn="l" marL="647705" indent="-323852" lvl="1">
              <a:lnSpc>
                <a:spcPts val="3600"/>
              </a:lnSpc>
              <a:buFont typeface="Arial"/>
              <a:buChar char="•"/>
            </a:pPr>
            <a:r>
              <a:rPr lang="en-US" sz="3000">
                <a:solidFill>
                  <a:srgbClr val="000000"/>
                </a:solidFill>
                <a:latin typeface="Nourd"/>
                <a:ea typeface="Nourd"/>
                <a:cs typeface="Nourd"/>
                <a:sym typeface="Nourd"/>
              </a:rPr>
              <a:t>high demanding products showed the highest delay frequency due to stock.</a:t>
            </a:r>
          </a:p>
          <a:p>
            <a:pPr algn="l" marL="647705" indent="-323852" lvl="1">
              <a:lnSpc>
                <a:spcPts val="3600"/>
              </a:lnSpc>
              <a:buFont typeface="Arial"/>
              <a:buChar char="•"/>
            </a:pPr>
            <a:r>
              <a:rPr lang="en-US" sz="3000">
                <a:solidFill>
                  <a:srgbClr val="000000"/>
                </a:solidFill>
                <a:latin typeface="Nourd"/>
                <a:ea typeface="Nourd"/>
                <a:cs typeface="Nourd"/>
                <a:sym typeface="Nourd"/>
              </a:rPr>
              <a:t>Avg delivery time is close to 7 days, referring to long time, causing  cancelation and return causes. </a:t>
            </a:r>
          </a:p>
          <a:p>
            <a:pPr algn="l">
              <a:lnSpc>
                <a:spcPts val="3600"/>
              </a:lnSpc>
            </a:pPr>
          </a:p>
          <a:p>
            <a:pPr algn="l">
              <a:lnSpc>
                <a:spcPts val="3600"/>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382134" y="1504120"/>
            <a:ext cx="9777303" cy="1685679"/>
          </a:xfrm>
          <a:prstGeom prst="rect">
            <a:avLst/>
          </a:prstGeom>
        </p:spPr>
        <p:txBody>
          <a:bodyPr anchor="t" rtlCol="false" tIns="0" lIns="0" bIns="0" rIns="0">
            <a:spAutoFit/>
          </a:bodyPr>
          <a:lstStyle/>
          <a:p>
            <a:pPr algn="l">
              <a:lnSpc>
                <a:spcPts val="13663"/>
              </a:lnSpc>
            </a:pPr>
            <a:r>
              <a:rPr lang="en-US" sz="9759">
                <a:solidFill>
                  <a:srgbClr val="000000"/>
                </a:solidFill>
                <a:latin typeface="Maiden Orange"/>
                <a:ea typeface="Maiden Orange"/>
                <a:cs typeface="Maiden Orange"/>
                <a:sym typeface="Maiden Orange"/>
              </a:rPr>
              <a:t>6- Recommendations</a:t>
            </a:r>
          </a:p>
        </p:txBody>
      </p:sp>
      <p:sp>
        <p:nvSpPr>
          <p:cNvPr name="TextBox 6" id="6"/>
          <p:cNvSpPr txBox="true"/>
          <p:nvPr/>
        </p:nvSpPr>
        <p:spPr>
          <a:xfrm rot="0">
            <a:off x="4128563" y="2857500"/>
            <a:ext cx="10030874" cy="6858000"/>
          </a:xfrm>
          <a:prstGeom prst="rect">
            <a:avLst/>
          </a:prstGeom>
        </p:spPr>
        <p:txBody>
          <a:bodyPr anchor="t" rtlCol="false" tIns="0" lIns="0" bIns="0" rIns="0">
            <a:spAutoFit/>
          </a:bodyPr>
          <a:lstStyle/>
          <a:p>
            <a:pPr algn="ctr">
              <a:lnSpc>
                <a:spcPts val="3600"/>
              </a:lnSpc>
            </a:pPr>
          </a:p>
          <a:p>
            <a:pPr algn="l" marL="647705" indent="-323852" lvl="1">
              <a:lnSpc>
                <a:spcPts val="3600"/>
              </a:lnSpc>
              <a:buFont typeface="Arial"/>
              <a:buChar char="•"/>
            </a:pPr>
            <a:r>
              <a:rPr lang="en-US" sz="3000">
                <a:solidFill>
                  <a:srgbClr val="000000"/>
                </a:solidFill>
                <a:latin typeface="Nourd"/>
                <a:ea typeface="Nourd"/>
                <a:cs typeface="Nourd"/>
                <a:sym typeface="Nourd"/>
              </a:rPr>
              <a:t>Optimize delivery operations in the West region to reduce delays and improve customer satisfaction.</a:t>
            </a:r>
          </a:p>
          <a:p>
            <a:pPr algn="l" marL="647705" indent="-323852" lvl="1">
              <a:lnSpc>
                <a:spcPts val="3600"/>
              </a:lnSpc>
              <a:buFont typeface="Arial"/>
              <a:buChar char="•"/>
            </a:pPr>
            <a:r>
              <a:rPr lang="en-US" sz="3000">
                <a:solidFill>
                  <a:srgbClr val="000000"/>
                </a:solidFill>
                <a:latin typeface="Nourd"/>
                <a:ea typeface="Nourd"/>
                <a:cs typeface="Nourd"/>
                <a:sym typeface="Nourd"/>
              </a:rPr>
              <a:t>Reduce product damage through better packaging and stricter quality control processes.</a:t>
            </a:r>
          </a:p>
          <a:p>
            <a:pPr algn="l" marL="647705" indent="-323852" lvl="1">
              <a:lnSpc>
                <a:spcPts val="3600"/>
              </a:lnSpc>
              <a:buFont typeface="Arial"/>
              <a:buChar char="•"/>
            </a:pPr>
            <a:r>
              <a:rPr lang="en-US" sz="3000">
                <a:solidFill>
                  <a:srgbClr val="000000"/>
                </a:solidFill>
                <a:latin typeface="Nourd"/>
                <a:ea typeface="Nourd"/>
                <a:cs typeface="Nourd"/>
                <a:sym typeface="Nourd"/>
              </a:rPr>
              <a:t>Reevaluate discount strategies to protect profit margins while maintaining sales performance.</a:t>
            </a:r>
          </a:p>
          <a:p>
            <a:pPr algn="l" marL="647705" indent="-323852" lvl="1">
              <a:lnSpc>
                <a:spcPts val="3600"/>
              </a:lnSpc>
              <a:buFont typeface="Arial"/>
              <a:buChar char="•"/>
            </a:pPr>
            <a:r>
              <a:rPr lang="en-US" sz="3000">
                <a:solidFill>
                  <a:srgbClr val="000000"/>
                </a:solidFill>
                <a:latin typeface="Nourd"/>
                <a:ea typeface="Nourd"/>
                <a:cs typeface="Nourd"/>
                <a:sym typeface="Nourd"/>
              </a:rPr>
              <a:t>Improve inventory allocation and demand forecasting to avoid stock shortages and overstocking.</a:t>
            </a:r>
          </a:p>
          <a:p>
            <a:pPr algn="l" marL="647705" indent="-323852" lvl="1">
              <a:lnSpc>
                <a:spcPts val="3600"/>
              </a:lnSpc>
              <a:buFont typeface="Arial"/>
              <a:buChar char="•"/>
            </a:pPr>
            <a:r>
              <a:rPr lang="en-US" sz="3000">
                <a:solidFill>
                  <a:srgbClr val="000000"/>
                </a:solidFill>
                <a:latin typeface="Nourd"/>
                <a:ea typeface="Nourd"/>
                <a:cs typeface="Nourd"/>
                <a:sym typeface="Nourd"/>
              </a:rPr>
              <a:t>Reduce average delivery time by optimizing shipping and fulfillment operations or change shipping companies.</a:t>
            </a:r>
          </a:p>
          <a:p>
            <a:pPr algn="l">
              <a:lnSpc>
                <a:spcPts val="3600"/>
              </a:lnSpc>
            </a:pPr>
          </a:p>
          <a:p>
            <a:pPr algn="l">
              <a:lnSpc>
                <a:spcPts val="3600"/>
              </a:lnSpc>
            </a:pPr>
          </a:p>
          <a:p>
            <a:pPr algn="l">
              <a:lnSpc>
                <a:spcPts val="3600"/>
              </a:lnSpc>
            </a:pP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0" y="-9525"/>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4382134" y="1504120"/>
            <a:ext cx="9777303" cy="1685679"/>
          </a:xfrm>
          <a:prstGeom prst="rect">
            <a:avLst/>
          </a:prstGeom>
        </p:spPr>
        <p:txBody>
          <a:bodyPr anchor="t" rtlCol="false" tIns="0" lIns="0" bIns="0" rIns="0">
            <a:spAutoFit/>
          </a:bodyPr>
          <a:lstStyle/>
          <a:p>
            <a:pPr algn="l">
              <a:lnSpc>
                <a:spcPts val="13663"/>
              </a:lnSpc>
            </a:pPr>
            <a:r>
              <a:rPr lang="en-US" sz="9759">
                <a:solidFill>
                  <a:srgbClr val="000000"/>
                </a:solidFill>
                <a:latin typeface="Maiden Orange"/>
                <a:ea typeface="Maiden Orange"/>
                <a:cs typeface="Maiden Orange"/>
                <a:sym typeface="Maiden Orange"/>
              </a:rPr>
              <a:t>6- Recommendations</a:t>
            </a:r>
          </a:p>
        </p:txBody>
      </p:sp>
      <p:sp>
        <p:nvSpPr>
          <p:cNvPr name="TextBox 6" id="6"/>
          <p:cNvSpPr txBox="true"/>
          <p:nvPr/>
        </p:nvSpPr>
        <p:spPr>
          <a:xfrm rot="0">
            <a:off x="4128563" y="3189799"/>
            <a:ext cx="10030874" cy="5029200"/>
          </a:xfrm>
          <a:prstGeom prst="rect">
            <a:avLst/>
          </a:prstGeom>
        </p:spPr>
        <p:txBody>
          <a:bodyPr anchor="t" rtlCol="false" tIns="0" lIns="0" bIns="0" rIns="0">
            <a:spAutoFit/>
          </a:bodyPr>
          <a:lstStyle/>
          <a:p>
            <a:pPr algn="just" marL="647705" indent="-323852" lvl="1">
              <a:lnSpc>
                <a:spcPts val="3600"/>
              </a:lnSpc>
              <a:buFont typeface="Arial"/>
              <a:buChar char="•"/>
            </a:pPr>
            <a:r>
              <a:rPr lang="en-US" sz="3000">
                <a:solidFill>
                  <a:srgbClr val="000000"/>
                </a:solidFill>
                <a:latin typeface="Nourd"/>
                <a:ea typeface="Nourd"/>
                <a:cs typeface="Nourd"/>
                <a:sym typeface="Nourd"/>
              </a:rPr>
              <a:t>Focus marketing and stock availability on high-revenue products such as Hydrating Moisturizer and Sunscreen.</a:t>
            </a:r>
          </a:p>
          <a:p>
            <a:pPr algn="just" marL="647705" indent="-323852" lvl="1">
              <a:lnSpc>
                <a:spcPts val="3600"/>
              </a:lnSpc>
              <a:buFont typeface="Arial"/>
              <a:buChar char="•"/>
            </a:pPr>
            <a:r>
              <a:rPr lang="en-US" sz="3000">
                <a:solidFill>
                  <a:srgbClr val="000000"/>
                </a:solidFill>
                <a:latin typeface="Nourd"/>
                <a:ea typeface="Nourd"/>
                <a:cs typeface="Nourd"/>
                <a:sym typeface="Nourd"/>
              </a:rPr>
              <a:t>Reduce operational and fulfillment costs to improve overall profitability.</a:t>
            </a:r>
          </a:p>
          <a:p>
            <a:pPr algn="just" marL="647705" indent="-323852" lvl="1">
              <a:lnSpc>
                <a:spcPts val="3600"/>
              </a:lnSpc>
              <a:buFont typeface="Arial"/>
              <a:buChar char="•"/>
            </a:pPr>
            <a:r>
              <a:rPr lang="en-US" sz="3000">
                <a:solidFill>
                  <a:srgbClr val="000000"/>
                </a:solidFill>
                <a:latin typeface="Nourd"/>
                <a:ea typeface="Nourd"/>
                <a:cs typeface="Nourd"/>
                <a:sym typeface="Nourd"/>
              </a:rPr>
              <a:t>Monitor supplier performance and investigate suppliers linked to high return rates.</a:t>
            </a:r>
          </a:p>
          <a:p>
            <a:pPr algn="just" marL="647705" indent="-323852" lvl="1">
              <a:lnSpc>
                <a:spcPts val="3600"/>
              </a:lnSpc>
              <a:buFont typeface="Arial"/>
              <a:buChar char="•"/>
            </a:pPr>
            <a:r>
              <a:rPr lang="en-US" sz="3000">
                <a:solidFill>
                  <a:srgbClr val="000000"/>
                </a:solidFill>
                <a:latin typeface="Nourd"/>
                <a:ea typeface="Nourd"/>
                <a:cs typeface="Nourd"/>
                <a:sym typeface="Nourd"/>
              </a:rPr>
              <a:t>Analyze return patterns regularly to lower the return rate and refund losses.</a:t>
            </a:r>
          </a:p>
          <a:p>
            <a:pPr algn="just" marL="647705" indent="-323852" lvl="1">
              <a:lnSpc>
                <a:spcPts val="3600"/>
              </a:lnSpc>
              <a:buFont typeface="Arial"/>
              <a:buChar char="•"/>
            </a:pPr>
            <a:r>
              <a:rPr lang="en-US" sz="3000">
                <a:solidFill>
                  <a:srgbClr val="000000"/>
                </a:solidFill>
                <a:latin typeface="Nourd"/>
                <a:ea typeface="Nourd"/>
                <a:cs typeface="Nourd"/>
                <a:sym typeface="Nourd"/>
              </a:rPr>
              <a:t>Maintain sufficient stock levels for high-demand products to prevent delays and lost sales.</a:t>
            </a:r>
          </a:p>
          <a:p>
            <a:pPr algn="just">
              <a:lnSpc>
                <a:spcPts val="3600"/>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TextBox 3" id="3"/>
          <p:cNvSpPr txBox="true"/>
          <p:nvPr/>
        </p:nvSpPr>
        <p:spPr>
          <a:xfrm rot="0">
            <a:off x="1930360" y="3992389"/>
            <a:ext cx="14427280" cy="1905238"/>
          </a:xfrm>
          <a:prstGeom prst="rect">
            <a:avLst/>
          </a:prstGeom>
        </p:spPr>
        <p:txBody>
          <a:bodyPr anchor="t" rtlCol="false" tIns="0" lIns="0" bIns="0" rIns="0">
            <a:spAutoFit/>
          </a:bodyPr>
          <a:lstStyle/>
          <a:p>
            <a:pPr algn="ctr">
              <a:lnSpc>
                <a:spcPts val="14259"/>
              </a:lnSpc>
            </a:pPr>
            <a:r>
              <a:rPr lang="en-US" sz="14259">
                <a:solidFill>
                  <a:srgbClr val="000000"/>
                </a:solidFill>
                <a:latin typeface="Maiden Orange"/>
                <a:ea typeface="Maiden Orange"/>
                <a:cs typeface="Maiden Orange"/>
                <a:sym typeface="Maiden Orange"/>
              </a:rPr>
              <a:t>Any Question ?</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sp>
        <p:nvSpPr>
          <p:cNvPr name="Freeform 3" id="3"/>
          <p:cNvSpPr/>
          <p:nvPr/>
        </p:nvSpPr>
        <p:spPr>
          <a:xfrm flipH="false" flipV="false" rot="0">
            <a:off x="15760355" y="0"/>
            <a:ext cx="2527645" cy="2506782"/>
          </a:xfrm>
          <a:custGeom>
            <a:avLst/>
            <a:gdLst/>
            <a:ahLst/>
            <a:cxnLst/>
            <a:rect r="r" b="b" t="t" l="l"/>
            <a:pathLst>
              <a:path h="2506782" w="2527645">
                <a:moveTo>
                  <a:pt x="0" y="0"/>
                </a:moveTo>
                <a:lnTo>
                  <a:pt x="2527645" y="0"/>
                </a:lnTo>
                <a:lnTo>
                  <a:pt x="2527645" y="2506782"/>
                </a:lnTo>
                <a:lnTo>
                  <a:pt x="0" y="250678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80736" y="2506782"/>
            <a:ext cx="8763264" cy="7042478"/>
          </a:xfrm>
          <a:custGeom>
            <a:avLst/>
            <a:gdLst/>
            <a:ahLst/>
            <a:cxnLst/>
            <a:rect r="r" b="b" t="t" l="l"/>
            <a:pathLst>
              <a:path h="7042478" w="8763264">
                <a:moveTo>
                  <a:pt x="0" y="0"/>
                </a:moveTo>
                <a:lnTo>
                  <a:pt x="8763264" y="0"/>
                </a:lnTo>
                <a:lnTo>
                  <a:pt x="8763264" y="7042478"/>
                </a:lnTo>
                <a:lnTo>
                  <a:pt x="0" y="7042478"/>
                </a:lnTo>
                <a:lnTo>
                  <a:pt x="0" y="0"/>
                </a:lnTo>
                <a:close/>
              </a:path>
            </a:pathLst>
          </a:custGeom>
          <a:blipFill>
            <a:blip r:embed="rId5"/>
            <a:stretch>
              <a:fillRect l="0" t="0" r="0" b="0"/>
            </a:stretch>
          </a:blipFill>
        </p:spPr>
      </p:sp>
      <p:sp>
        <p:nvSpPr>
          <p:cNvPr name="Freeform 5" id="5"/>
          <p:cNvSpPr/>
          <p:nvPr/>
        </p:nvSpPr>
        <p:spPr>
          <a:xfrm flipH="false" flipV="false" rot="0">
            <a:off x="0" y="0"/>
            <a:ext cx="1910428" cy="1910428"/>
          </a:xfrm>
          <a:custGeom>
            <a:avLst/>
            <a:gdLst/>
            <a:ahLst/>
            <a:cxnLst/>
            <a:rect r="r" b="b" t="t" l="l"/>
            <a:pathLst>
              <a:path h="1910428" w="1910428">
                <a:moveTo>
                  <a:pt x="0" y="0"/>
                </a:moveTo>
                <a:lnTo>
                  <a:pt x="1910428" y="0"/>
                </a:lnTo>
                <a:lnTo>
                  <a:pt x="1910428" y="1910428"/>
                </a:lnTo>
                <a:lnTo>
                  <a:pt x="0" y="19104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223325">
            <a:off x="10660972" y="8307562"/>
            <a:ext cx="1933316" cy="526211"/>
          </a:xfrm>
          <a:custGeom>
            <a:avLst/>
            <a:gdLst/>
            <a:ahLst/>
            <a:cxnLst/>
            <a:rect r="r" b="b" t="t" l="l"/>
            <a:pathLst>
              <a:path h="526211" w="1933316">
                <a:moveTo>
                  <a:pt x="0" y="0"/>
                </a:moveTo>
                <a:lnTo>
                  <a:pt x="1933316" y="0"/>
                </a:lnTo>
                <a:lnTo>
                  <a:pt x="1933316" y="526211"/>
                </a:lnTo>
                <a:lnTo>
                  <a:pt x="0" y="526211"/>
                </a:lnTo>
                <a:lnTo>
                  <a:pt x="0" y="0"/>
                </a:lnTo>
                <a:close/>
              </a:path>
            </a:pathLst>
          </a:custGeom>
          <a:blipFill>
            <a:blip r:embed="rId8"/>
            <a:stretch>
              <a:fillRect l="0" t="0" r="0" b="0"/>
            </a:stretch>
          </a:blipFill>
        </p:spPr>
      </p:sp>
      <p:sp>
        <p:nvSpPr>
          <p:cNvPr name="Freeform 7" id="7"/>
          <p:cNvSpPr/>
          <p:nvPr/>
        </p:nvSpPr>
        <p:spPr>
          <a:xfrm flipH="false" flipV="false" rot="0">
            <a:off x="14506183" y="6947254"/>
            <a:ext cx="3781817" cy="3246828"/>
          </a:xfrm>
          <a:custGeom>
            <a:avLst/>
            <a:gdLst/>
            <a:ahLst/>
            <a:cxnLst/>
            <a:rect r="r" b="b" t="t" l="l"/>
            <a:pathLst>
              <a:path h="3246828" w="3781817">
                <a:moveTo>
                  <a:pt x="0" y="0"/>
                </a:moveTo>
                <a:lnTo>
                  <a:pt x="3781817" y="0"/>
                </a:lnTo>
                <a:lnTo>
                  <a:pt x="3781817" y="3246828"/>
                </a:lnTo>
                <a:lnTo>
                  <a:pt x="0" y="3246828"/>
                </a:lnTo>
                <a:lnTo>
                  <a:pt x="0" y="0"/>
                </a:lnTo>
                <a:close/>
              </a:path>
            </a:pathLst>
          </a:custGeom>
          <a:blipFill>
            <a:blip r:embed="rId9"/>
            <a:stretch>
              <a:fillRect l="0" t="0" r="0" b="0"/>
            </a:stretch>
          </a:blipFill>
        </p:spPr>
      </p:sp>
      <p:sp>
        <p:nvSpPr>
          <p:cNvPr name="TextBox 8" id="8"/>
          <p:cNvSpPr txBox="true"/>
          <p:nvPr/>
        </p:nvSpPr>
        <p:spPr>
          <a:xfrm rot="0">
            <a:off x="6922756" y="4343869"/>
            <a:ext cx="11365244" cy="1844768"/>
          </a:xfrm>
          <a:prstGeom prst="rect">
            <a:avLst/>
          </a:prstGeom>
        </p:spPr>
        <p:txBody>
          <a:bodyPr anchor="t" rtlCol="false" tIns="0" lIns="0" bIns="0" rIns="0">
            <a:spAutoFit/>
          </a:bodyPr>
          <a:lstStyle/>
          <a:p>
            <a:pPr algn="l">
              <a:lnSpc>
                <a:spcPts val="13753"/>
              </a:lnSpc>
            </a:pPr>
            <a:r>
              <a:rPr lang="en-US" sz="13753">
                <a:solidFill>
                  <a:srgbClr val="000000"/>
                </a:solidFill>
                <a:latin typeface="Maiden Orange"/>
                <a:ea typeface="Maiden Orange"/>
                <a:cs typeface="Maiden Orange"/>
                <a:sym typeface="Maiden Orang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DAHKVGh15pM</dc:identifier>
  <dcterms:modified xsi:type="dcterms:W3CDTF">2011-08-01T06:04:30Z</dcterms:modified>
  <cp:revision>1</cp:revision>
  <dc:title>Black and White Illustrated Science Project Presentation</dc:title>
</cp:coreProperties>
</file>